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6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82801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저희는 EMS, 즉 근육 전기자극을 활용해 뇌졸중 후 편마비 환자의 재활을 돕는 보조 시스템을 개발했습니다.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뇌졸중으로 운동 영역이 손상되면 반대쪽 팔과 손을 움직이기 어려운 편마비가 나타납니다. 재활의 핵심은 마비된 손을 반복해 움직이고, 그때 생기는 감각 정보를 뇌로 다시 보내는 것입니다. 이 과정이 쌓이면 남은 신경세포가 연결을 강화하거나 우회 경로를 만들어 손상된 기능을 대신하는데, 이것이 신경가소성입니다.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EMS는 피부에 붙인 전극으로 운동신경에 전기자극을 주어 근육을 수축시키는 기술입니다. 아래가 실제 제작한 제어 보드와 TENS 장치, 전극 패치입니다. 이 TENS 장치에 openEMSstim 오픈소스 펌웨어를 적용해, 컴퓨터가 자극의 시작과 정지뿐 아니라 자극 세기까지 직접 제어할 수 있게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openEMSstim은 완제품을 구할 방법이 없었습니다. 그래서 오픈소스 회로도와 거버 파일을 받아 해외 PCB 업체에 기판 제작을 의뢰했고, 그 업체에 없는 부품은 디지키와 알리익스프레스에서 따로 주문해 저희가 직접 납땜해 완성했습니다.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기능은 비전 기반 폐루프 동작 재현입니다. 카메라가 정상 손의 굽힘 정도를 측정해 목표값으로 잡고, 반대쪽 팔에 EMS 자극을 준 뒤, 그 손이 실제로 얼마나 움직였는지 다시 카메라로 측정합니다. 목표값과 실제값의 오차를 실시간으로 계산해서 움직임이 부족하면 세기를 올리고, 목표에 가까워지면 낮춥니다. 오차가 ±5퍼센트 이내에 들어오면 동작 완료로 판단하고 자극을 차단합니다.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음성 명령 기반 개인화 동작 보조입니다. 수저 들기 보조, 이두운동처럼 필요한 동작과 자극 세기를 회원번호별로 저장해 두면, 동작 이름을 말하는 것만으로 그 설정을 불러와 실행됩니다. 버튼을 누르지 않아도 되니 손을 쓰기 어려운 사용자도 스스로 훈련을 시작할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 저주파 장치가 정해진 세기를 그대로 반복하는 것과 달리, 저희는 정상 손의 움직임과 마비된 손의 실제 반응을 함께 보고 세기를 조절합니다. 안전을 위해 최대 제어값은 90, 최대 자극 시간은 55초로 제한했고, 이상이 생기면 비상정지로 자극을 즉시 차단합니다.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지금부터 실제 시연 영상으로 동작 인식과 EMS 자동 제어 과정을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15.jpg"/><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33"/>
        </a:solidFill>
        <a:effectLst/>
      </p:bgPr>
    </p:bg>
    <p:spTree>
      <p:nvGrpSpPr>
        <p:cNvPr id="1" name=""/>
        <p:cNvGrpSpPr/>
        <p:nvPr/>
      </p:nvGrpSpPr>
      <p:grpSpPr>
        <a:xfrm>
          <a:off x="0" y="0"/>
          <a:ext cx="0" cy="0"/>
          <a:chOff x="0" y="0"/>
          <a:chExt cx="0" cy="0"/>
        </a:xfrm>
      </p:grpSpPr>
      <p:sp>
        <p:nvSpPr>
          <p:cNvPr id="2" name="Shape 0"/>
          <p:cNvSpPr/>
          <p:nvPr/>
        </p:nvSpPr>
        <p:spPr>
          <a:xfrm>
            <a:off x="8778240" y="-1737360"/>
            <a:ext cx="5120640" cy="5120640"/>
          </a:xfrm>
          <a:prstGeom prst="ellipse">
            <a:avLst/>
          </a:prstGeom>
          <a:solidFill>
            <a:srgbClr val="028090">
              <a:alpha val="18000"/>
            </a:srgbClr>
          </a:solidFill>
          <a:ln w="12700">
            <a:solidFill>
              <a:srgbClr val="028090">
                <a:alpha val="0"/>
              </a:srgbClr>
            </a:solidFill>
            <a:prstDash val="solid"/>
          </a:ln>
        </p:spPr>
        <p:txBody>
          <a:bodyPr/>
          <a:lstStyle/>
          <a:p>
            <a:endParaRPr lang="ko-KR" altLang="en-US" dirty="0"/>
          </a:p>
        </p:txBody>
      </p:sp>
      <p:sp>
        <p:nvSpPr>
          <p:cNvPr id="3" name="Text 1"/>
          <p:cNvSpPr txBox="1"/>
          <p:nvPr/>
        </p:nvSpPr>
        <p:spPr>
          <a:xfrm>
            <a:off x="777240" y="1481328"/>
            <a:ext cx="6035040" cy="310896"/>
          </a:xfrm>
          <a:prstGeom prst="rect">
            <a:avLst/>
          </a:prstGeom>
          <a:noFill/>
          <a:ln/>
        </p:spPr>
        <p:txBody>
          <a:bodyPr wrap="square" lIns="0" tIns="0" rIns="0" bIns="0" rtlCol="0" anchor="ctr"/>
          <a:lstStyle/>
          <a:p>
            <a:pPr marL="0" indent="0">
              <a:buNone/>
            </a:pPr>
            <a:r>
              <a:rPr lang="en-US" sz="1400" b="1" kern="0" spc="150" dirty="0">
                <a:solidFill>
                  <a:srgbClr val="00B99B"/>
                </a:solidFill>
                <a:latin typeface="Malgun Gothic" pitchFamily="34" charset="0"/>
                <a:ea typeface="Malgun Gothic" pitchFamily="34" charset="-122"/>
                <a:cs typeface="Malgun Gothic" pitchFamily="34" charset="-120"/>
              </a:rPr>
              <a:t>EMS 기반 재활 보조 시스템</a:t>
            </a:r>
            <a:endParaRPr lang="en-US" sz="1400" dirty="0"/>
          </a:p>
        </p:txBody>
      </p:sp>
      <p:sp>
        <p:nvSpPr>
          <p:cNvPr id="4" name="Text 2"/>
          <p:cNvSpPr txBox="1"/>
          <p:nvPr/>
        </p:nvSpPr>
        <p:spPr>
          <a:xfrm>
            <a:off x="777240" y="1874520"/>
            <a:ext cx="6126480" cy="1554480"/>
          </a:xfrm>
          <a:prstGeom prst="rect">
            <a:avLst/>
          </a:prstGeom>
          <a:noFill/>
          <a:ln/>
        </p:spPr>
        <p:txBody>
          <a:bodyPr wrap="square" lIns="0" tIns="0" rIns="0" bIns="0" rtlCol="0" anchor="ctr"/>
          <a:lstStyle/>
          <a:p>
            <a:r>
              <a:rPr lang="ko-KR" altLang="ko-KR" sz="3600" b="1" dirty="0">
                <a:solidFill>
                  <a:schemeClr val="bg1"/>
                </a:solidFill>
              </a:rPr>
              <a:t>EMS 기반 </a:t>
            </a:r>
            <a:r>
              <a:rPr lang="ko-KR" altLang="ko-KR" sz="3600" b="1" dirty="0" err="1">
                <a:solidFill>
                  <a:schemeClr val="bg1"/>
                </a:solidFill>
              </a:rPr>
              <a:t>뇌졸중·마비</a:t>
            </a:r>
            <a:r>
              <a:rPr lang="ko-KR" altLang="ko-KR" sz="3600" b="1" dirty="0">
                <a:solidFill>
                  <a:schemeClr val="bg1"/>
                </a:solidFill>
              </a:rPr>
              <a:t> 환자 재활 보조 시스템</a:t>
            </a:r>
            <a:endParaRPr lang="en-US" sz="3300" b="1" dirty="0">
              <a:solidFill>
                <a:schemeClr val="bg1"/>
              </a:solidFill>
            </a:endParaRPr>
          </a:p>
        </p:txBody>
      </p:sp>
      <p:sp>
        <p:nvSpPr>
          <p:cNvPr id="5" name="Text 3"/>
          <p:cNvSpPr txBox="1"/>
          <p:nvPr/>
        </p:nvSpPr>
        <p:spPr>
          <a:xfrm>
            <a:off x="777240" y="3611880"/>
            <a:ext cx="6035040" cy="731520"/>
          </a:xfrm>
          <a:prstGeom prst="rect">
            <a:avLst/>
          </a:prstGeom>
          <a:noFill/>
          <a:ln/>
        </p:spPr>
        <p:txBody>
          <a:bodyPr wrap="square" lIns="0" tIns="0" rIns="0" bIns="0" rtlCol="0" anchor="ctr"/>
          <a:lstStyle/>
          <a:p>
            <a:pPr marL="0" indent="0">
              <a:lnSpc>
                <a:spcPts val="2400"/>
              </a:lnSpc>
              <a:buNone/>
            </a:pPr>
            <a:r>
              <a:rPr lang="en-US" sz="1500" dirty="0">
                <a:solidFill>
                  <a:srgbClr val="BFE0E4"/>
                </a:solidFill>
                <a:latin typeface="Malgun Gothic" pitchFamily="34" charset="0"/>
                <a:ea typeface="Malgun Gothic" pitchFamily="34" charset="-122"/>
                <a:cs typeface="Malgun Gothic" pitchFamily="34" charset="-120"/>
              </a:rPr>
              <a:t>정상 손의 움직임을 목표로, 마비된 손의 자극 세기를 스스로 조절합니다</a:t>
            </a:r>
            <a:endParaRPr lang="en-US" sz="1500" dirty="0"/>
          </a:p>
        </p:txBody>
      </p:sp>
      <p:sp>
        <p:nvSpPr>
          <p:cNvPr id="6" name="Text 4"/>
          <p:cNvSpPr txBox="1"/>
          <p:nvPr/>
        </p:nvSpPr>
        <p:spPr>
          <a:xfrm>
            <a:off x="777240" y="4663440"/>
            <a:ext cx="4572000" cy="274320"/>
          </a:xfrm>
          <a:prstGeom prst="rect">
            <a:avLst/>
          </a:prstGeom>
          <a:noFill/>
          <a:ln/>
        </p:spPr>
        <p:txBody>
          <a:bodyPr wrap="square" lIns="0" tIns="0" rIns="0" bIns="0" rtlCol="0" anchor="ctr"/>
          <a:lstStyle/>
          <a:p>
            <a:pPr marL="0" indent="0">
              <a:buNone/>
            </a:pPr>
            <a:r>
              <a:rPr lang="en-US" sz="1200" dirty="0">
                <a:solidFill>
                  <a:srgbClr val="7FA5AB"/>
                </a:solidFill>
                <a:latin typeface="Malgun Gothic" pitchFamily="34" charset="0"/>
                <a:ea typeface="Malgun Gothic" pitchFamily="34" charset="-122"/>
                <a:cs typeface="Malgun Gothic" pitchFamily="34" charset="-120"/>
              </a:rPr>
              <a:t>팀명 · 발표자</a:t>
            </a:r>
            <a:endParaRPr lang="en-US" sz="1200" dirty="0"/>
          </a:p>
        </p:txBody>
      </p:sp>
      <p:sp>
        <p:nvSpPr>
          <p:cNvPr id="7" name="Shape 5"/>
          <p:cNvSpPr/>
          <p:nvPr/>
        </p:nvSpPr>
        <p:spPr>
          <a:xfrm>
            <a:off x="7086600" y="2697480"/>
            <a:ext cx="1234440" cy="1234440"/>
          </a:xfrm>
          <a:prstGeom prst="ellipse">
            <a:avLst/>
          </a:prstGeom>
          <a:solidFill>
            <a:srgbClr val="0C4450"/>
          </a:solidFill>
          <a:ln w="12700">
            <a:solidFill>
              <a:srgbClr val="0C4450"/>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7444588" y="3055468"/>
            <a:ext cx="518465" cy="518465"/>
          </a:xfrm>
          <a:prstGeom prst="rect">
            <a:avLst/>
          </a:prstGeom>
        </p:spPr>
      </p:pic>
      <p:sp>
        <p:nvSpPr>
          <p:cNvPr id="9" name="Text 6"/>
          <p:cNvSpPr txBox="1"/>
          <p:nvPr/>
        </p:nvSpPr>
        <p:spPr>
          <a:xfrm>
            <a:off x="6949440" y="4069080"/>
            <a:ext cx="1508760" cy="274320"/>
          </a:xfrm>
          <a:prstGeom prst="rect">
            <a:avLst/>
          </a:prstGeom>
          <a:noFill/>
          <a:ln/>
        </p:spPr>
        <p:txBody>
          <a:bodyPr wrap="square" lIns="0" tIns="0" rIns="0" bIns="0" rtlCol="0" anchor="ctr"/>
          <a:lstStyle/>
          <a:p>
            <a:pPr marL="0" indent="0" algn="ctr">
              <a:buNone/>
            </a:pPr>
            <a:r>
              <a:rPr lang="en-US" sz="1200" b="1" dirty="0">
                <a:solidFill>
                  <a:srgbClr val="BFE0E4"/>
                </a:solidFill>
                <a:latin typeface="Malgun Gothic" pitchFamily="34" charset="0"/>
                <a:ea typeface="Malgun Gothic" pitchFamily="34" charset="-122"/>
                <a:cs typeface="Malgun Gothic" pitchFamily="34" charset="-120"/>
              </a:rPr>
              <a:t>동작 인식</a:t>
            </a:r>
            <a:endParaRPr lang="en-US" sz="1200" dirty="0"/>
          </a:p>
        </p:txBody>
      </p:sp>
      <p:sp>
        <p:nvSpPr>
          <p:cNvPr id="10" name="Shape 7"/>
          <p:cNvSpPr/>
          <p:nvPr/>
        </p:nvSpPr>
        <p:spPr>
          <a:xfrm>
            <a:off x="8823960" y="2697480"/>
            <a:ext cx="1234440" cy="1234440"/>
          </a:xfrm>
          <a:prstGeom prst="ellipse">
            <a:avLst/>
          </a:prstGeom>
          <a:solidFill>
            <a:srgbClr val="FF6B35"/>
          </a:solidFill>
          <a:ln w="12700">
            <a:solidFill>
              <a:srgbClr val="FF6B35"/>
            </a:solidFill>
            <a:prstDash val="solid"/>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9181948" y="3055468"/>
            <a:ext cx="518465" cy="518465"/>
          </a:xfrm>
          <a:prstGeom prst="rect">
            <a:avLst/>
          </a:prstGeom>
        </p:spPr>
      </p:pic>
      <p:sp>
        <p:nvSpPr>
          <p:cNvPr id="12" name="Text 8"/>
          <p:cNvSpPr txBox="1"/>
          <p:nvPr/>
        </p:nvSpPr>
        <p:spPr>
          <a:xfrm>
            <a:off x="8686800" y="4069080"/>
            <a:ext cx="1508760" cy="274320"/>
          </a:xfrm>
          <a:prstGeom prst="rect">
            <a:avLst/>
          </a:prstGeom>
          <a:noFill/>
          <a:ln/>
        </p:spPr>
        <p:txBody>
          <a:bodyPr wrap="square" lIns="0" tIns="0" rIns="0" bIns="0" rtlCol="0" anchor="ctr"/>
          <a:lstStyle/>
          <a:p>
            <a:pPr marL="0" indent="0" algn="ctr">
              <a:buNone/>
            </a:pPr>
            <a:r>
              <a:rPr lang="en-US" sz="1200" b="1" dirty="0">
                <a:solidFill>
                  <a:srgbClr val="BFE0E4"/>
                </a:solidFill>
                <a:latin typeface="Malgun Gothic" pitchFamily="34" charset="0"/>
                <a:ea typeface="Malgun Gothic" pitchFamily="34" charset="-122"/>
                <a:cs typeface="Malgun Gothic" pitchFamily="34" charset="-120"/>
              </a:rPr>
              <a:t>전기 자극</a:t>
            </a:r>
            <a:endParaRPr lang="en-US" sz="1200" dirty="0"/>
          </a:p>
        </p:txBody>
      </p:sp>
      <p:sp>
        <p:nvSpPr>
          <p:cNvPr id="13" name="Shape 9"/>
          <p:cNvSpPr/>
          <p:nvPr/>
        </p:nvSpPr>
        <p:spPr>
          <a:xfrm>
            <a:off x="10561320" y="2697480"/>
            <a:ext cx="1234440" cy="1234440"/>
          </a:xfrm>
          <a:prstGeom prst="ellipse">
            <a:avLst/>
          </a:prstGeom>
          <a:solidFill>
            <a:srgbClr val="0C4450"/>
          </a:solidFill>
          <a:ln w="12700">
            <a:solidFill>
              <a:srgbClr val="0C4450"/>
            </a:solidFill>
            <a:prstDash val="solid"/>
          </a:ln>
        </p:spPr>
        <p:txBody>
          <a:bodyPr/>
          <a:lstStyle/>
          <a:p>
            <a:endParaRPr lang="ko-KR" altLang="en-US"/>
          </a:p>
        </p:txBody>
      </p:sp>
      <p:pic>
        <p:nvPicPr>
          <p:cNvPr id="14" name="Image 2" descr="preencoded.png"/>
          <p:cNvPicPr>
            <a:picLocks noChangeAspect="1"/>
          </p:cNvPicPr>
          <p:nvPr/>
        </p:nvPicPr>
        <p:blipFill>
          <a:blip r:embed="rId5"/>
          <a:stretch>
            <a:fillRect/>
          </a:stretch>
        </p:blipFill>
        <p:spPr>
          <a:xfrm>
            <a:off x="10919308" y="3055468"/>
            <a:ext cx="518465" cy="518465"/>
          </a:xfrm>
          <a:prstGeom prst="rect">
            <a:avLst/>
          </a:prstGeom>
        </p:spPr>
      </p:pic>
      <p:sp>
        <p:nvSpPr>
          <p:cNvPr id="15" name="Text 10"/>
          <p:cNvSpPr txBox="1"/>
          <p:nvPr/>
        </p:nvSpPr>
        <p:spPr>
          <a:xfrm>
            <a:off x="10424160" y="4069080"/>
            <a:ext cx="1508760" cy="274320"/>
          </a:xfrm>
          <a:prstGeom prst="rect">
            <a:avLst/>
          </a:prstGeom>
          <a:noFill/>
          <a:ln/>
        </p:spPr>
        <p:txBody>
          <a:bodyPr wrap="square" lIns="0" tIns="0" rIns="0" bIns="0" rtlCol="0" anchor="ctr"/>
          <a:lstStyle/>
          <a:p>
            <a:pPr marL="0" indent="0" algn="ctr">
              <a:buNone/>
            </a:pPr>
            <a:r>
              <a:rPr lang="en-US" sz="1200" b="1" dirty="0">
                <a:solidFill>
                  <a:srgbClr val="BFE0E4"/>
                </a:solidFill>
                <a:latin typeface="Malgun Gothic" pitchFamily="34" charset="0"/>
                <a:ea typeface="Malgun Gothic" pitchFamily="34" charset="-122"/>
                <a:cs typeface="Malgun Gothic" pitchFamily="34" charset="-120"/>
              </a:rPr>
              <a:t>손 움직임</a:t>
            </a:r>
            <a:endParaRPr lang="en-US" sz="1200" dirty="0"/>
          </a:p>
        </p:txBody>
      </p:sp>
      <p:sp>
        <p:nvSpPr>
          <p:cNvPr id="16" name="Shape 11"/>
          <p:cNvSpPr/>
          <p:nvPr/>
        </p:nvSpPr>
        <p:spPr>
          <a:xfrm>
            <a:off x="8275320" y="3127248"/>
            <a:ext cx="384048" cy="384048"/>
          </a:xfrm>
          <a:prstGeom prst="chevron">
            <a:avLst/>
          </a:prstGeom>
          <a:solidFill>
            <a:srgbClr val="00B99B"/>
          </a:solidFill>
          <a:ln w="12700">
            <a:solidFill>
              <a:srgbClr val="00B99B"/>
            </a:solidFill>
            <a:prstDash val="solid"/>
          </a:ln>
        </p:spPr>
        <p:txBody>
          <a:bodyPr/>
          <a:lstStyle/>
          <a:p>
            <a:endParaRPr lang="ko-KR" altLang="en-US"/>
          </a:p>
        </p:txBody>
      </p:sp>
      <p:sp>
        <p:nvSpPr>
          <p:cNvPr id="17" name="Shape 12"/>
          <p:cNvSpPr/>
          <p:nvPr/>
        </p:nvSpPr>
        <p:spPr>
          <a:xfrm>
            <a:off x="10012680" y="3127248"/>
            <a:ext cx="384048" cy="384048"/>
          </a:xfrm>
          <a:prstGeom prst="chevron">
            <a:avLst/>
          </a:prstGeom>
          <a:solidFill>
            <a:srgbClr val="00B99B"/>
          </a:solidFill>
          <a:ln w="12700">
            <a:solidFill>
              <a:srgbClr val="00B99B"/>
            </a:solidFill>
            <a:prstDash val="solid"/>
          </a:ln>
        </p:spPr>
        <p:txBody>
          <a:bodyPr/>
          <a:lstStyle/>
          <a:p>
            <a:endParaRPr lang="ko-KR" altLang="en-US"/>
          </a:p>
        </p:txBody>
      </p:sp>
      <p:sp>
        <p:nvSpPr>
          <p:cNvPr id="18" name="Shape 13"/>
          <p:cNvSpPr/>
          <p:nvPr/>
        </p:nvSpPr>
        <p:spPr>
          <a:xfrm>
            <a:off x="777240" y="5989320"/>
            <a:ext cx="662940" cy="0"/>
          </a:xfrm>
          <a:prstGeom prst="line">
            <a:avLst/>
          </a:prstGeom>
          <a:noFill/>
          <a:ln w="25400">
            <a:solidFill>
              <a:srgbClr val="00B99B"/>
            </a:solidFill>
            <a:prstDash val="solid"/>
          </a:ln>
        </p:spPr>
        <p:txBody>
          <a:bodyPr/>
          <a:lstStyle/>
          <a:p>
            <a:endParaRPr lang="ko-KR" altLang="en-US"/>
          </a:p>
        </p:txBody>
      </p:sp>
      <p:sp>
        <p:nvSpPr>
          <p:cNvPr id="19" name="Shape 14"/>
          <p:cNvSpPr/>
          <p:nvPr/>
        </p:nvSpPr>
        <p:spPr>
          <a:xfrm>
            <a:off x="1440180" y="5596128"/>
            <a:ext cx="0" cy="393192"/>
          </a:xfrm>
          <a:prstGeom prst="line">
            <a:avLst/>
          </a:prstGeom>
          <a:noFill/>
          <a:ln w="25400">
            <a:solidFill>
              <a:srgbClr val="00B99B"/>
            </a:solidFill>
            <a:prstDash val="solid"/>
          </a:ln>
        </p:spPr>
        <p:txBody>
          <a:bodyPr/>
          <a:lstStyle/>
          <a:p>
            <a:endParaRPr lang="ko-KR" altLang="en-US"/>
          </a:p>
        </p:txBody>
      </p:sp>
      <p:sp>
        <p:nvSpPr>
          <p:cNvPr id="20" name="Shape 15"/>
          <p:cNvSpPr/>
          <p:nvPr/>
        </p:nvSpPr>
        <p:spPr>
          <a:xfrm>
            <a:off x="1440180" y="5596128"/>
            <a:ext cx="662940" cy="0"/>
          </a:xfrm>
          <a:prstGeom prst="line">
            <a:avLst/>
          </a:prstGeom>
          <a:noFill/>
          <a:ln w="25400">
            <a:solidFill>
              <a:srgbClr val="00B99B"/>
            </a:solidFill>
            <a:prstDash val="solid"/>
          </a:ln>
        </p:spPr>
        <p:txBody>
          <a:bodyPr/>
          <a:lstStyle/>
          <a:p>
            <a:endParaRPr lang="ko-KR" altLang="en-US"/>
          </a:p>
        </p:txBody>
      </p:sp>
      <p:sp>
        <p:nvSpPr>
          <p:cNvPr id="21" name="Shape 16"/>
          <p:cNvSpPr/>
          <p:nvPr/>
        </p:nvSpPr>
        <p:spPr>
          <a:xfrm>
            <a:off x="2103120" y="5596128"/>
            <a:ext cx="0" cy="393192"/>
          </a:xfrm>
          <a:prstGeom prst="line">
            <a:avLst/>
          </a:prstGeom>
          <a:noFill/>
          <a:ln w="25400">
            <a:solidFill>
              <a:srgbClr val="00B99B"/>
            </a:solidFill>
            <a:prstDash val="solid"/>
          </a:ln>
        </p:spPr>
        <p:txBody>
          <a:bodyPr/>
          <a:lstStyle/>
          <a:p>
            <a:endParaRPr lang="ko-KR" altLang="en-US"/>
          </a:p>
        </p:txBody>
      </p:sp>
      <p:sp>
        <p:nvSpPr>
          <p:cNvPr id="22" name="Shape 17"/>
          <p:cNvSpPr/>
          <p:nvPr/>
        </p:nvSpPr>
        <p:spPr>
          <a:xfrm>
            <a:off x="2103120" y="5989320"/>
            <a:ext cx="662940" cy="0"/>
          </a:xfrm>
          <a:prstGeom prst="line">
            <a:avLst/>
          </a:prstGeom>
          <a:noFill/>
          <a:ln w="25400">
            <a:solidFill>
              <a:srgbClr val="00B99B"/>
            </a:solidFill>
            <a:prstDash val="solid"/>
          </a:ln>
        </p:spPr>
        <p:txBody>
          <a:bodyPr/>
          <a:lstStyle/>
          <a:p>
            <a:endParaRPr lang="ko-KR" altLang="en-US"/>
          </a:p>
        </p:txBody>
      </p:sp>
      <p:sp>
        <p:nvSpPr>
          <p:cNvPr id="23" name="Shape 18"/>
          <p:cNvSpPr/>
          <p:nvPr/>
        </p:nvSpPr>
        <p:spPr>
          <a:xfrm>
            <a:off x="2766060" y="5596128"/>
            <a:ext cx="0" cy="393192"/>
          </a:xfrm>
          <a:prstGeom prst="line">
            <a:avLst/>
          </a:prstGeom>
          <a:noFill/>
          <a:ln w="25400">
            <a:solidFill>
              <a:srgbClr val="00B99B"/>
            </a:solidFill>
            <a:prstDash val="solid"/>
          </a:ln>
        </p:spPr>
        <p:txBody>
          <a:bodyPr/>
          <a:lstStyle/>
          <a:p>
            <a:endParaRPr lang="ko-KR" altLang="en-US"/>
          </a:p>
        </p:txBody>
      </p:sp>
      <p:sp>
        <p:nvSpPr>
          <p:cNvPr id="24" name="Shape 19"/>
          <p:cNvSpPr/>
          <p:nvPr/>
        </p:nvSpPr>
        <p:spPr>
          <a:xfrm>
            <a:off x="2766060" y="5596128"/>
            <a:ext cx="662940" cy="0"/>
          </a:xfrm>
          <a:prstGeom prst="line">
            <a:avLst/>
          </a:prstGeom>
          <a:noFill/>
          <a:ln w="25400">
            <a:solidFill>
              <a:srgbClr val="00B99B"/>
            </a:solidFill>
            <a:prstDash val="solid"/>
          </a:ln>
        </p:spPr>
        <p:txBody>
          <a:bodyPr/>
          <a:lstStyle/>
          <a:p>
            <a:endParaRPr lang="ko-KR" altLang="en-US"/>
          </a:p>
        </p:txBody>
      </p:sp>
      <p:sp>
        <p:nvSpPr>
          <p:cNvPr id="25" name="Shape 20"/>
          <p:cNvSpPr/>
          <p:nvPr/>
        </p:nvSpPr>
        <p:spPr>
          <a:xfrm>
            <a:off x="3429000" y="5596128"/>
            <a:ext cx="0" cy="393192"/>
          </a:xfrm>
          <a:prstGeom prst="line">
            <a:avLst/>
          </a:prstGeom>
          <a:noFill/>
          <a:ln w="25400">
            <a:solidFill>
              <a:srgbClr val="00B99B"/>
            </a:solidFill>
            <a:prstDash val="solid"/>
          </a:ln>
        </p:spPr>
        <p:txBody>
          <a:bodyPr/>
          <a:lstStyle/>
          <a:p>
            <a:endParaRPr lang="ko-KR" altLang="en-US"/>
          </a:p>
        </p:txBody>
      </p:sp>
      <p:sp>
        <p:nvSpPr>
          <p:cNvPr id="26" name="Shape 21"/>
          <p:cNvSpPr/>
          <p:nvPr/>
        </p:nvSpPr>
        <p:spPr>
          <a:xfrm>
            <a:off x="3429000" y="5989320"/>
            <a:ext cx="662940" cy="0"/>
          </a:xfrm>
          <a:prstGeom prst="line">
            <a:avLst/>
          </a:prstGeom>
          <a:noFill/>
          <a:ln w="25400">
            <a:solidFill>
              <a:srgbClr val="00B99B"/>
            </a:solidFill>
            <a:prstDash val="solid"/>
          </a:ln>
        </p:spPr>
        <p:txBody>
          <a:bodyPr/>
          <a:lstStyle/>
          <a:p>
            <a:endParaRPr lang="ko-KR" altLang="en-US"/>
          </a:p>
        </p:txBody>
      </p:sp>
      <p:sp>
        <p:nvSpPr>
          <p:cNvPr id="27" name="Shape 22"/>
          <p:cNvSpPr/>
          <p:nvPr/>
        </p:nvSpPr>
        <p:spPr>
          <a:xfrm>
            <a:off x="4091940" y="5596128"/>
            <a:ext cx="0" cy="393192"/>
          </a:xfrm>
          <a:prstGeom prst="line">
            <a:avLst/>
          </a:prstGeom>
          <a:noFill/>
          <a:ln w="25400">
            <a:solidFill>
              <a:srgbClr val="00B99B"/>
            </a:solidFill>
            <a:prstDash val="solid"/>
          </a:ln>
        </p:spPr>
        <p:txBody>
          <a:bodyPr/>
          <a:lstStyle/>
          <a:p>
            <a:endParaRPr lang="ko-KR" altLang="en-US"/>
          </a:p>
        </p:txBody>
      </p:sp>
      <p:sp>
        <p:nvSpPr>
          <p:cNvPr id="28" name="Shape 23"/>
          <p:cNvSpPr/>
          <p:nvPr/>
        </p:nvSpPr>
        <p:spPr>
          <a:xfrm>
            <a:off x="4091940" y="5596128"/>
            <a:ext cx="662940" cy="0"/>
          </a:xfrm>
          <a:prstGeom prst="line">
            <a:avLst/>
          </a:prstGeom>
          <a:noFill/>
          <a:ln w="25400">
            <a:solidFill>
              <a:srgbClr val="00B99B"/>
            </a:solidFill>
            <a:prstDash val="solid"/>
          </a:ln>
        </p:spPr>
        <p:txBody>
          <a:bodyPr/>
          <a:lstStyle/>
          <a:p>
            <a:endParaRPr lang="ko-KR" altLang="en-US"/>
          </a:p>
        </p:txBody>
      </p:sp>
      <p:sp>
        <p:nvSpPr>
          <p:cNvPr id="29" name="Shape 24"/>
          <p:cNvSpPr/>
          <p:nvPr/>
        </p:nvSpPr>
        <p:spPr>
          <a:xfrm>
            <a:off x="4754880" y="5596128"/>
            <a:ext cx="0" cy="393192"/>
          </a:xfrm>
          <a:prstGeom prst="line">
            <a:avLst/>
          </a:prstGeom>
          <a:noFill/>
          <a:ln w="25400">
            <a:solidFill>
              <a:srgbClr val="00B99B"/>
            </a:solidFill>
            <a:prstDash val="solid"/>
          </a:ln>
        </p:spPr>
        <p:txBody>
          <a:bodyPr/>
          <a:lstStyle/>
          <a:p>
            <a:endParaRPr lang="ko-KR" altLang="en-US"/>
          </a:p>
        </p:txBody>
      </p:sp>
      <p:sp>
        <p:nvSpPr>
          <p:cNvPr id="30" name="Shape 25"/>
          <p:cNvSpPr/>
          <p:nvPr/>
        </p:nvSpPr>
        <p:spPr>
          <a:xfrm>
            <a:off x="4754880" y="5989320"/>
            <a:ext cx="662940" cy="0"/>
          </a:xfrm>
          <a:prstGeom prst="line">
            <a:avLst/>
          </a:prstGeom>
          <a:noFill/>
          <a:ln w="25400">
            <a:solidFill>
              <a:srgbClr val="00B99B"/>
            </a:solidFill>
            <a:prstDash val="solid"/>
          </a:ln>
        </p:spPr>
        <p:txBody>
          <a:bodyPr/>
          <a:lstStyle/>
          <a:p>
            <a:endParaRPr lang="ko-KR" altLang="en-US"/>
          </a:p>
        </p:txBody>
      </p:sp>
      <p:sp>
        <p:nvSpPr>
          <p:cNvPr id="31" name="Shape 26"/>
          <p:cNvSpPr/>
          <p:nvPr/>
        </p:nvSpPr>
        <p:spPr>
          <a:xfrm>
            <a:off x="5417820" y="5596128"/>
            <a:ext cx="0" cy="393192"/>
          </a:xfrm>
          <a:prstGeom prst="line">
            <a:avLst/>
          </a:prstGeom>
          <a:noFill/>
          <a:ln w="25400">
            <a:solidFill>
              <a:srgbClr val="00B99B"/>
            </a:solidFill>
            <a:prstDash val="solid"/>
          </a:ln>
        </p:spPr>
        <p:txBody>
          <a:bodyPr/>
          <a:lstStyle/>
          <a:p>
            <a:endParaRPr lang="ko-KR" altLang="en-US"/>
          </a:p>
        </p:txBody>
      </p:sp>
      <p:sp>
        <p:nvSpPr>
          <p:cNvPr id="32" name="Shape 27"/>
          <p:cNvSpPr/>
          <p:nvPr/>
        </p:nvSpPr>
        <p:spPr>
          <a:xfrm>
            <a:off x="5417820" y="5596128"/>
            <a:ext cx="662940" cy="0"/>
          </a:xfrm>
          <a:prstGeom prst="line">
            <a:avLst/>
          </a:prstGeom>
          <a:noFill/>
          <a:ln w="25400">
            <a:solidFill>
              <a:srgbClr val="00B99B"/>
            </a:solidFill>
            <a:prstDash val="solid"/>
          </a:ln>
        </p:spPr>
        <p:txBody>
          <a:bodyPr/>
          <a:lstStyle/>
          <a:p>
            <a:endParaRPr lang="ko-KR" altLang="en-US"/>
          </a:p>
        </p:txBody>
      </p:sp>
      <p:sp>
        <p:nvSpPr>
          <p:cNvPr id="33" name="Shape 28"/>
          <p:cNvSpPr/>
          <p:nvPr/>
        </p:nvSpPr>
        <p:spPr>
          <a:xfrm>
            <a:off x="6080760" y="5596128"/>
            <a:ext cx="0" cy="393192"/>
          </a:xfrm>
          <a:prstGeom prst="line">
            <a:avLst/>
          </a:prstGeom>
          <a:noFill/>
          <a:ln w="25400">
            <a:solidFill>
              <a:srgbClr val="00B99B"/>
            </a:solidFill>
            <a:prstDash val="solid"/>
          </a:ln>
        </p:spPr>
        <p:txBody>
          <a:bodyPr/>
          <a:lstStyle/>
          <a:p>
            <a:endParaRPr lang="ko-KR" altLang="en-US"/>
          </a:p>
        </p:txBody>
      </p:sp>
      <p:sp>
        <p:nvSpPr>
          <p:cNvPr id="34" name="Shape 29"/>
          <p:cNvSpPr/>
          <p:nvPr/>
        </p:nvSpPr>
        <p:spPr>
          <a:xfrm>
            <a:off x="6080760" y="5989320"/>
            <a:ext cx="662940" cy="0"/>
          </a:xfrm>
          <a:prstGeom prst="line">
            <a:avLst/>
          </a:prstGeom>
          <a:noFill/>
          <a:ln w="25400">
            <a:solidFill>
              <a:srgbClr val="00B99B"/>
            </a:solidFill>
            <a:prstDash val="solid"/>
          </a:ln>
        </p:spPr>
        <p:txBody>
          <a:bodyPr/>
          <a:lstStyle/>
          <a:p>
            <a:endParaRPr lang="ko-KR" altLang="en-US"/>
          </a:p>
        </p:txBody>
      </p:sp>
      <p:sp>
        <p:nvSpPr>
          <p:cNvPr id="35" name="Shape 30"/>
          <p:cNvSpPr/>
          <p:nvPr/>
        </p:nvSpPr>
        <p:spPr>
          <a:xfrm>
            <a:off x="6743700" y="5596128"/>
            <a:ext cx="0" cy="393192"/>
          </a:xfrm>
          <a:prstGeom prst="line">
            <a:avLst/>
          </a:prstGeom>
          <a:noFill/>
          <a:ln w="25400">
            <a:solidFill>
              <a:srgbClr val="00B99B"/>
            </a:solidFill>
            <a:prstDash val="solid"/>
          </a:ln>
        </p:spPr>
        <p:txBody>
          <a:bodyPr/>
          <a:lstStyle/>
          <a:p>
            <a:endParaRPr lang="ko-KR" altLang="en-US"/>
          </a:p>
        </p:txBody>
      </p:sp>
      <p:sp>
        <p:nvSpPr>
          <p:cNvPr id="36" name="Shape 31"/>
          <p:cNvSpPr/>
          <p:nvPr/>
        </p:nvSpPr>
        <p:spPr>
          <a:xfrm>
            <a:off x="6743700" y="5596128"/>
            <a:ext cx="662940" cy="0"/>
          </a:xfrm>
          <a:prstGeom prst="line">
            <a:avLst/>
          </a:prstGeom>
          <a:noFill/>
          <a:ln w="25400">
            <a:solidFill>
              <a:srgbClr val="00B99B"/>
            </a:solidFill>
            <a:prstDash val="solid"/>
          </a:ln>
        </p:spPr>
        <p:txBody>
          <a:bodyPr/>
          <a:lstStyle/>
          <a:p>
            <a:endParaRPr lang="ko-KR" altLang="en-US"/>
          </a:p>
        </p:txBody>
      </p:sp>
      <p:sp>
        <p:nvSpPr>
          <p:cNvPr id="37" name="Shape 32"/>
          <p:cNvSpPr/>
          <p:nvPr/>
        </p:nvSpPr>
        <p:spPr>
          <a:xfrm>
            <a:off x="7406640" y="5596128"/>
            <a:ext cx="0" cy="393192"/>
          </a:xfrm>
          <a:prstGeom prst="line">
            <a:avLst/>
          </a:prstGeom>
          <a:noFill/>
          <a:ln w="25400">
            <a:solidFill>
              <a:srgbClr val="00B99B"/>
            </a:solidFill>
            <a:prstDash val="solid"/>
          </a:ln>
        </p:spPr>
        <p:txBody>
          <a:bodyPr/>
          <a:lstStyle/>
          <a:p>
            <a:endParaRPr lang="ko-KR" altLang="en-US"/>
          </a:p>
        </p:txBody>
      </p:sp>
      <p:sp>
        <p:nvSpPr>
          <p:cNvPr id="38" name="Shape 33"/>
          <p:cNvSpPr/>
          <p:nvPr/>
        </p:nvSpPr>
        <p:spPr>
          <a:xfrm>
            <a:off x="7406640" y="5989320"/>
            <a:ext cx="662940" cy="0"/>
          </a:xfrm>
          <a:prstGeom prst="line">
            <a:avLst/>
          </a:prstGeom>
          <a:noFill/>
          <a:ln w="25400">
            <a:solidFill>
              <a:srgbClr val="00B99B"/>
            </a:solidFill>
            <a:prstDash val="solid"/>
          </a:ln>
        </p:spPr>
        <p:txBody>
          <a:bodyPr/>
          <a:lstStyle/>
          <a:p>
            <a:endParaRPr lang="ko-KR" altLang="en-US"/>
          </a:p>
        </p:txBody>
      </p:sp>
      <p:sp>
        <p:nvSpPr>
          <p:cNvPr id="39" name="Shape 34"/>
          <p:cNvSpPr/>
          <p:nvPr/>
        </p:nvSpPr>
        <p:spPr>
          <a:xfrm>
            <a:off x="8069580" y="5596128"/>
            <a:ext cx="0" cy="393192"/>
          </a:xfrm>
          <a:prstGeom prst="line">
            <a:avLst/>
          </a:prstGeom>
          <a:noFill/>
          <a:ln w="25400">
            <a:solidFill>
              <a:srgbClr val="00B99B"/>
            </a:solidFill>
            <a:prstDash val="solid"/>
          </a:ln>
        </p:spPr>
        <p:txBody>
          <a:bodyPr/>
          <a:lstStyle/>
          <a:p>
            <a:endParaRPr lang="ko-KR" altLang="en-US"/>
          </a:p>
        </p:txBody>
      </p:sp>
      <p:sp>
        <p:nvSpPr>
          <p:cNvPr id="40" name="Shape 35"/>
          <p:cNvSpPr/>
          <p:nvPr/>
        </p:nvSpPr>
        <p:spPr>
          <a:xfrm>
            <a:off x="8069580" y="5596128"/>
            <a:ext cx="662940" cy="0"/>
          </a:xfrm>
          <a:prstGeom prst="line">
            <a:avLst/>
          </a:prstGeom>
          <a:noFill/>
          <a:ln w="25400">
            <a:solidFill>
              <a:srgbClr val="00B99B"/>
            </a:solidFill>
            <a:prstDash val="solid"/>
          </a:ln>
        </p:spPr>
        <p:txBody>
          <a:bodyPr/>
          <a:lstStyle/>
          <a:p>
            <a:endParaRPr lang="ko-KR" altLang="en-US"/>
          </a:p>
        </p:txBody>
      </p:sp>
      <p:sp>
        <p:nvSpPr>
          <p:cNvPr id="41" name="Shape 36"/>
          <p:cNvSpPr/>
          <p:nvPr/>
        </p:nvSpPr>
        <p:spPr>
          <a:xfrm>
            <a:off x="8732520" y="5596128"/>
            <a:ext cx="0" cy="393192"/>
          </a:xfrm>
          <a:prstGeom prst="line">
            <a:avLst/>
          </a:prstGeom>
          <a:noFill/>
          <a:ln w="25400">
            <a:solidFill>
              <a:srgbClr val="00B99B"/>
            </a:solidFill>
            <a:prstDash val="solid"/>
          </a:ln>
        </p:spPr>
        <p:txBody>
          <a:bodyPr/>
          <a:lstStyle/>
          <a:p>
            <a:endParaRPr lang="ko-KR" altLang="en-US"/>
          </a:p>
        </p:txBody>
      </p:sp>
      <p:sp>
        <p:nvSpPr>
          <p:cNvPr id="42" name="Shape 37"/>
          <p:cNvSpPr/>
          <p:nvPr/>
        </p:nvSpPr>
        <p:spPr>
          <a:xfrm>
            <a:off x="8732520" y="5989320"/>
            <a:ext cx="662940" cy="0"/>
          </a:xfrm>
          <a:prstGeom prst="line">
            <a:avLst/>
          </a:prstGeom>
          <a:noFill/>
          <a:ln w="25400">
            <a:solidFill>
              <a:srgbClr val="00B99B"/>
            </a:solidFill>
            <a:prstDash val="solid"/>
          </a:ln>
        </p:spPr>
        <p:txBody>
          <a:bodyPr/>
          <a:lstStyle/>
          <a:p>
            <a:endParaRPr lang="ko-KR" altLang="en-US"/>
          </a:p>
        </p:txBody>
      </p:sp>
      <p:sp>
        <p:nvSpPr>
          <p:cNvPr id="43" name="Shape 38"/>
          <p:cNvSpPr/>
          <p:nvPr/>
        </p:nvSpPr>
        <p:spPr>
          <a:xfrm>
            <a:off x="9395460" y="5596128"/>
            <a:ext cx="0" cy="393192"/>
          </a:xfrm>
          <a:prstGeom prst="line">
            <a:avLst/>
          </a:prstGeom>
          <a:noFill/>
          <a:ln w="25400">
            <a:solidFill>
              <a:srgbClr val="00B99B"/>
            </a:solidFill>
            <a:prstDash val="solid"/>
          </a:ln>
        </p:spPr>
        <p:txBody>
          <a:bodyPr/>
          <a:lstStyle/>
          <a:p>
            <a:endParaRPr lang="ko-KR" altLang="en-US"/>
          </a:p>
        </p:txBody>
      </p:sp>
      <p:sp>
        <p:nvSpPr>
          <p:cNvPr id="44" name="Shape 39"/>
          <p:cNvSpPr/>
          <p:nvPr/>
        </p:nvSpPr>
        <p:spPr>
          <a:xfrm>
            <a:off x="9395460" y="5596128"/>
            <a:ext cx="662940" cy="0"/>
          </a:xfrm>
          <a:prstGeom prst="line">
            <a:avLst/>
          </a:prstGeom>
          <a:noFill/>
          <a:ln w="25400">
            <a:solidFill>
              <a:srgbClr val="00B99B"/>
            </a:solidFill>
            <a:prstDash val="solid"/>
          </a:ln>
        </p:spPr>
        <p:txBody>
          <a:bodyPr/>
          <a:lstStyle/>
          <a:p>
            <a:endParaRPr lang="ko-KR" altLang="en-US"/>
          </a:p>
        </p:txBody>
      </p:sp>
      <p:sp>
        <p:nvSpPr>
          <p:cNvPr id="45" name="Shape 40"/>
          <p:cNvSpPr/>
          <p:nvPr/>
        </p:nvSpPr>
        <p:spPr>
          <a:xfrm>
            <a:off x="10058400" y="5596128"/>
            <a:ext cx="0" cy="393192"/>
          </a:xfrm>
          <a:prstGeom prst="line">
            <a:avLst/>
          </a:prstGeom>
          <a:noFill/>
          <a:ln w="25400">
            <a:solidFill>
              <a:srgbClr val="00B99B"/>
            </a:solidFill>
            <a:prstDash val="solid"/>
          </a:ln>
        </p:spPr>
        <p:txBody>
          <a:bodyPr/>
          <a:lstStyle/>
          <a:p>
            <a:endParaRPr lang="ko-KR" altLang="en-US"/>
          </a:p>
        </p:txBody>
      </p:sp>
      <p:sp>
        <p:nvSpPr>
          <p:cNvPr id="46" name="Shape 41"/>
          <p:cNvSpPr/>
          <p:nvPr/>
        </p:nvSpPr>
        <p:spPr>
          <a:xfrm>
            <a:off x="10058400" y="5989320"/>
            <a:ext cx="662940" cy="0"/>
          </a:xfrm>
          <a:prstGeom prst="line">
            <a:avLst/>
          </a:prstGeom>
          <a:noFill/>
          <a:ln w="25400">
            <a:solidFill>
              <a:srgbClr val="00B99B"/>
            </a:solidFill>
            <a:prstDash val="solid"/>
          </a:ln>
        </p:spPr>
        <p:txBody>
          <a:bodyPr/>
          <a:lstStyle/>
          <a:p>
            <a:endParaRPr lang="ko-KR" altLang="en-US"/>
          </a:p>
        </p:txBody>
      </p:sp>
      <p:sp>
        <p:nvSpPr>
          <p:cNvPr id="47" name="Shape 42"/>
          <p:cNvSpPr/>
          <p:nvPr/>
        </p:nvSpPr>
        <p:spPr>
          <a:xfrm>
            <a:off x="10721340" y="5596128"/>
            <a:ext cx="0" cy="393192"/>
          </a:xfrm>
          <a:prstGeom prst="line">
            <a:avLst/>
          </a:prstGeom>
          <a:noFill/>
          <a:ln w="25400">
            <a:solidFill>
              <a:srgbClr val="00B99B"/>
            </a:solidFill>
            <a:prstDash val="solid"/>
          </a:ln>
        </p:spPr>
        <p:txBody>
          <a:bodyPr/>
          <a:lstStyle/>
          <a:p>
            <a:endParaRPr lang="ko-KR" altLang="en-US"/>
          </a:p>
        </p:txBody>
      </p:sp>
      <p:sp>
        <p:nvSpPr>
          <p:cNvPr id="48" name="Shape 43"/>
          <p:cNvSpPr/>
          <p:nvPr/>
        </p:nvSpPr>
        <p:spPr>
          <a:xfrm>
            <a:off x="10721340" y="5596128"/>
            <a:ext cx="662940" cy="0"/>
          </a:xfrm>
          <a:prstGeom prst="line">
            <a:avLst/>
          </a:prstGeom>
          <a:noFill/>
          <a:ln w="25400">
            <a:solidFill>
              <a:srgbClr val="00B99B"/>
            </a:solidFill>
            <a:prstDash val="solid"/>
          </a:ln>
        </p:spPr>
        <p:txBody>
          <a:bodyPr/>
          <a:lstStyle/>
          <a:p>
            <a:endParaRPr lang="ko-KR" altLang="en-US"/>
          </a:p>
        </p:txBody>
      </p:sp>
      <p:sp>
        <p:nvSpPr>
          <p:cNvPr id="49" name="Shape 44"/>
          <p:cNvSpPr/>
          <p:nvPr/>
        </p:nvSpPr>
        <p:spPr>
          <a:xfrm>
            <a:off x="11384280" y="5596128"/>
            <a:ext cx="0" cy="393192"/>
          </a:xfrm>
          <a:prstGeom prst="line">
            <a:avLst/>
          </a:prstGeom>
          <a:noFill/>
          <a:ln w="25400">
            <a:solidFill>
              <a:srgbClr val="00B99B"/>
            </a:solidFill>
            <a:prstDash val="solid"/>
          </a:ln>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01  개발 배경</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편마비 재활의 핵심은 반복 움직임과 감각 피드백</a:t>
            </a:r>
            <a:endParaRPr lang="en-US" sz="3100" dirty="0"/>
          </a:p>
        </p:txBody>
      </p:sp>
      <p:sp>
        <p:nvSpPr>
          <p:cNvPr id="4" name="Shape 2"/>
          <p:cNvSpPr/>
          <p:nvPr/>
        </p:nvSpPr>
        <p:spPr>
          <a:xfrm>
            <a:off x="685800" y="1737360"/>
            <a:ext cx="2331720" cy="2697480"/>
          </a:xfrm>
          <a:prstGeom prst="roundRect">
            <a:avLst>
              <a:gd name="adj" fmla="val 5098"/>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5" name="Shape 3"/>
          <p:cNvSpPr/>
          <p:nvPr/>
        </p:nvSpPr>
        <p:spPr>
          <a:xfrm>
            <a:off x="1463040" y="2011680"/>
            <a:ext cx="777240" cy="777240"/>
          </a:xfrm>
          <a:prstGeom prst="ellipse">
            <a:avLst/>
          </a:prstGeom>
          <a:solidFill>
            <a:srgbClr val="0C4450"/>
          </a:solidFill>
          <a:ln w="12700">
            <a:solidFill>
              <a:srgbClr val="0C4450"/>
            </a:solidFill>
            <a:prstDash val="solid"/>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1688440" y="2237080"/>
            <a:ext cx="326441" cy="326441"/>
          </a:xfrm>
          <a:prstGeom prst="rect">
            <a:avLst/>
          </a:prstGeom>
        </p:spPr>
      </p:pic>
      <p:sp>
        <p:nvSpPr>
          <p:cNvPr id="7" name="Text 4"/>
          <p:cNvSpPr txBox="1"/>
          <p:nvPr/>
        </p:nvSpPr>
        <p:spPr>
          <a:xfrm>
            <a:off x="868680" y="2944368"/>
            <a:ext cx="1965960" cy="310896"/>
          </a:xfrm>
          <a:prstGeom prst="rect">
            <a:avLst/>
          </a:prstGeom>
          <a:noFill/>
          <a:ln/>
        </p:spPr>
        <p:txBody>
          <a:bodyPr wrap="square" lIns="0" tIns="0" rIns="0" bIns="0" rtlCol="0" anchor="ctr"/>
          <a:lstStyle/>
          <a:p>
            <a:pPr marL="0" indent="0" algn="ctr">
              <a:buNone/>
            </a:pPr>
            <a:r>
              <a:rPr lang="en-US" sz="1600" b="1" dirty="0">
                <a:solidFill>
                  <a:srgbClr val="0F2126"/>
                </a:solidFill>
                <a:latin typeface="Malgun Gothic" pitchFamily="34" charset="0"/>
                <a:ea typeface="Malgun Gothic" pitchFamily="34" charset="-122"/>
                <a:cs typeface="Malgun Gothic" pitchFamily="34" charset="-120"/>
              </a:rPr>
              <a:t>뇌졸중 발생</a:t>
            </a:r>
            <a:endParaRPr lang="en-US" sz="1600" dirty="0"/>
          </a:p>
        </p:txBody>
      </p:sp>
      <p:sp>
        <p:nvSpPr>
          <p:cNvPr id="8" name="Text 5"/>
          <p:cNvSpPr txBox="1"/>
          <p:nvPr/>
        </p:nvSpPr>
        <p:spPr>
          <a:xfrm>
            <a:off x="850392" y="3310128"/>
            <a:ext cx="2002536" cy="960120"/>
          </a:xfrm>
          <a:prstGeom prst="rect">
            <a:avLst/>
          </a:prstGeom>
          <a:noFill/>
          <a:ln/>
        </p:spPr>
        <p:txBody>
          <a:bodyPr wrap="square" lIns="0" tIns="0" rIns="0" bIns="0" rtlCol="0" anchor="ctr"/>
          <a:lstStyle/>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뇌혈관이 막히거나 터져</a:t>
            </a:r>
            <a:endParaRPr lang="en-US" sz="1150" dirty="0"/>
          </a:p>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운동 기능 영역이 손상</a:t>
            </a:r>
            <a:endParaRPr lang="en-US" sz="1150" dirty="0"/>
          </a:p>
        </p:txBody>
      </p:sp>
      <p:sp>
        <p:nvSpPr>
          <p:cNvPr id="9" name="Shape 6"/>
          <p:cNvSpPr/>
          <p:nvPr/>
        </p:nvSpPr>
        <p:spPr>
          <a:xfrm>
            <a:off x="3081528" y="2907792"/>
            <a:ext cx="365760" cy="329184"/>
          </a:xfrm>
          <a:prstGeom prst="rightArrow">
            <a:avLst/>
          </a:prstGeom>
          <a:solidFill>
            <a:srgbClr val="00B99B"/>
          </a:solidFill>
          <a:ln w="12700">
            <a:solidFill>
              <a:srgbClr val="00B99B"/>
            </a:solidFill>
            <a:prstDash val="solid"/>
          </a:ln>
        </p:spPr>
        <p:txBody>
          <a:bodyPr/>
          <a:lstStyle/>
          <a:p>
            <a:endParaRPr lang="ko-KR" altLang="en-US"/>
          </a:p>
        </p:txBody>
      </p:sp>
      <p:sp>
        <p:nvSpPr>
          <p:cNvPr id="10" name="Shape 7"/>
          <p:cNvSpPr/>
          <p:nvPr/>
        </p:nvSpPr>
        <p:spPr>
          <a:xfrm>
            <a:off x="3520440" y="1737360"/>
            <a:ext cx="2331720" cy="2697480"/>
          </a:xfrm>
          <a:prstGeom prst="roundRect">
            <a:avLst>
              <a:gd name="adj" fmla="val 5098"/>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1" name="Shape 8"/>
          <p:cNvSpPr/>
          <p:nvPr/>
        </p:nvSpPr>
        <p:spPr>
          <a:xfrm>
            <a:off x="4297680" y="2011680"/>
            <a:ext cx="777240" cy="777240"/>
          </a:xfrm>
          <a:prstGeom prst="ellipse">
            <a:avLst/>
          </a:prstGeom>
          <a:solidFill>
            <a:srgbClr val="0C4450"/>
          </a:solidFill>
          <a:ln w="12700">
            <a:solidFill>
              <a:srgbClr val="0C4450"/>
            </a:solidFill>
            <a:prstDash val="solid"/>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4523080" y="2237080"/>
            <a:ext cx="326441" cy="326441"/>
          </a:xfrm>
          <a:prstGeom prst="rect">
            <a:avLst/>
          </a:prstGeom>
        </p:spPr>
      </p:pic>
      <p:sp>
        <p:nvSpPr>
          <p:cNvPr id="13" name="Text 9"/>
          <p:cNvSpPr txBox="1"/>
          <p:nvPr/>
        </p:nvSpPr>
        <p:spPr>
          <a:xfrm>
            <a:off x="3703320" y="2944368"/>
            <a:ext cx="1965960" cy="310896"/>
          </a:xfrm>
          <a:prstGeom prst="rect">
            <a:avLst/>
          </a:prstGeom>
          <a:noFill/>
          <a:ln/>
        </p:spPr>
        <p:txBody>
          <a:bodyPr wrap="square" lIns="0" tIns="0" rIns="0" bIns="0" rtlCol="0" anchor="ctr"/>
          <a:lstStyle/>
          <a:p>
            <a:pPr marL="0" indent="0" algn="ctr">
              <a:buNone/>
            </a:pPr>
            <a:r>
              <a:rPr lang="en-US" sz="1600" b="1" dirty="0">
                <a:solidFill>
                  <a:srgbClr val="0F2126"/>
                </a:solidFill>
                <a:latin typeface="Malgun Gothic" pitchFamily="34" charset="0"/>
                <a:ea typeface="Malgun Gothic" pitchFamily="34" charset="-122"/>
                <a:cs typeface="Malgun Gothic" pitchFamily="34" charset="-120"/>
              </a:rPr>
              <a:t>편마비</a:t>
            </a:r>
            <a:endParaRPr lang="en-US" sz="1600" dirty="0"/>
          </a:p>
        </p:txBody>
      </p:sp>
      <p:sp>
        <p:nvSpPr>
          <p:cNvPr id="14" name="Text 10"/>
          <p:cNvSpPr txBox="1"/>
          <p:nvPr/>
        </p:nvSpPr>
        <p:spPr>
          <a:xfrm>
            <a:off x="3685032" y="3310128"/>
            <a:ext cx="2002536" cy="960120"/>
          </a:xfrm>
          <a:prstGeom prst="rect">
            <a:avLst/>
          </a:prstGeom>
          <a:noFill/>
          <a:ln/>
        </p:spPr>
        <p:txBody>
          <a:bodyPr wrap="square" lIns="0" tIns="0" rIns="0" bIns="0" rtlCol="0" anchor="ctr"/>
          <a:lstStyle/>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손상된 뇌의 반대쪽</a:t>
            </a:r>
            <a:endParaRPr lang="en-US" sz="1150" dirty="0"/>
          </a:p>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팔·손 움직임이 어려워짐</a:t>
            </a:r>
            <a:endParaRPr lang="en-US" sz="1150" dirty="0"/>
          </a:p>
        </p:txBody>
      </p:sp>
      <p:sp>
        <p:nvSpPr>
          <p:cNvPr id="15" name="Shape 11"/>
          <p:cNvSpPr/>
          <p:nvPr/>
        </p:nvSpPr>
        <p:spPr>
          <a:xfrm>
            <a:off x="5916168" y="2907792"/>
            <a:ext cx="365760" cy="329184"/>
          </a:xfrm>
          <a:prstGeom prst="rightArrow">
            <a:avLst/>
          </a:prstGeom>
          <a:solidFill>
            <a:srgbClr val="00B99B"/>
          </a:solidFill>
          <a:ln w="12700">
            <a:solidFill>
              <a:srgbClr val="00B99B"/>
            </a:solidFill>
            <a:prstDash val="solid"/>
          </a:ln>
        </p:spPr>
        <p:txBody>
          <a:bodyPr/>
          <a:lstStyle/>
          <a:p>
            <a:endParaRPr lang="ko-KR" altLang="en-US"/>
          </a:p>
        </p:txBody>
      </p:sp>
      <p:sp>
        <p:nvSpPr>
          <p:cNvPr id="16" name="Shape 12"/>
          <p:cNvSpPr/>
          <p:nvPr/>
        </p:nvSpPr>
        <p:spPr>
          <a:xfrm>
            <a:off x="6355080" y="1737360"/>
            <a:ext cx="2331720" cy="2697480"/>
          </a:xfrm>
          <a:prstGeom prst="roundRect">
            <a:avLst>
              <a:gd name="adj" fmla="val 5098"/>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7" name="Shape 13"/>
          <p:cNvSpPr/>
          <p:nvPr/>
        </p:nvSpPr>
        <p:spPr>
          <a:xfrm>
            <a:off x="7132320" y="2011680"/>
            <a:ext cx="777240" cy="777240"/>
          </a:xfrm>
          <a:prstGeom prst="ellipse">
            <a:avLst/>
          </a:prstGeom>
          <a:solidFill>
            <a:srgbClr val="FF6B35"/>
          </a:solidFill>
          <a:ln w="12700">
            <a:solidFill>
              <a:srgbClr val="FF6B35"/>
            </a:solidFill>
            <a:prstDash val="solid"/>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7357720" y="2237080"/>
            <a:ext cx="326441" cy="326441"/>
          </a:xfrm>
          <a:prstGeom prst="rect">
            <a:avLst/>
          </a:prstGeom>
        </p:spPr>
      </p:pic>
      <p:sp>
        <p:nvSpPr>
          <p:cNvPr id="19" name="Text 14"/>
          <p:cNvSpPr txBox="1"/>
          <p:nvPr/>
        </p:nvSpPr>
        <p:spPr>
          <a:xfrm>
            <a:off x="6537960" y="2944368"/>
            <a:ext cx="1965960" cy="310896"/>
          </a:xfrm>
          <a:prstGeom prst="rect">
            <a:avLst/>
          </a:prstGeom>
          <a:noFill/>
          <a:ln/>
        </p:spPr>
        <p:txBody>
          <a:bodyPr wrap="square" lIns="0" tIns="0" rIns="0" bIns="0" rtlCol="0" anchor="ctr"/>
          <a:lstStyle/>
          <a:p>
            <a:pPr marL="0" indent="0" algn="ctr">
              <a:buNone/>
            </a:pPr>
            <a:r>
              <a:rPr lang="en-US" sz="1600" b="1" dirty="0">
                <a:solidFill>
                  <a:srgbClr val="0F2126"/>
                </a:solidFill>
                <a:latin typeface="Malgun Gothic" pitchFamily="34" charset="0"/>
                <a:ea typeface="Malgun Gothic" pitchFamily="34" charset="-122"/>
                <a:cs typeface="Malgun Gothic" pitchFamily="34" charset="-120"/>
              </a:rPr>
              <a:t>반복 훈련</a:t>
            </a:r>
            <a:endParaRPr lang="en-US" sz="1600" dirty="0"/>
          </a:p>
        </p:txBody>
      </p:sp>
      <p:sp>
        <p:nvSpPr>
          <p:cNvPr id="20" name="Text 15"/>
          <p:cNvSpPr txBox="1"/>
          <p:nvPr/>
        </p:nvSpPr>
        <p:spPr>
          <a:xfrm>
            <a:off x="6519672" y="3310128"/>
            <a:ext cx="2002536" cy="960120"/>
          </a:xfrm>
          <a:prstGeom prst="rect">
            <a:avLst/>
          </a:prstGeom>
          <a:noFill/>
          <a:ln/>
        </p:spPr>
        <p:txBody>
          <a:bodyPr wrap="square" lIns="0" tIns="0" rIns="0" bIns="0" rtlCol="0" anchor="ctr"/>
          <a:lstStyle/>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마비된 손을 반복해 움직이고</a:t>
            </a:r>
            <a:endParaRPr lang="en-US" sz="1150" dirty="0"/>
          </a:p>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감각 정보를 뇌로 전달</a:t>
            </a:r>
            <a:endParaRPr lang="en-US" sz="1150" dirty="0"/>
          </a:p>
        </p:txBody>
      </p:sp>
      <p:sp>
        <p:nvSpPr>
          <p:cNvPr id="21" name="Shape 16"/>
          <p:cNvSpPr/>
          <p:nvPr/>
        </p:nvSpPr>
        <p:spPr>
          <a:xfrm>
            <a:off x="8750808" y="2907792"/>
            <a:ext cx="365760" cy="329184"/>
          </a:xfrm>
          <a:prstGeom prst="rightArrow">
            <a:avLst/>
          </a:prstGeom>
          <a:solidFill>
            <a:srgbClr val="00B99B"/>
          </a:solidFill>
          <a:ln w="12700">
            <a:solidFill>
              <a:srgbClr val="00B99B"/>
            </a:solidFill>
            <a:prstDash val="solid"/>
          </a:ln>
        </p:spPr>
        <p:txBody>
          <a:bodyPr/>
          <a:lstStyle/>
          <a:p>
            <a:endParaRPr lang="ko-KR" altLang="en-US"/>
          </a:p>
        </p:txBody>
      </p:sp>
      <p:sp>
        <p:nvSpPr>
          <p:cNvPr id="22" name="Shape 17"/>
          <p:cNvSpPr/>
          <p:nvPr/>
        </p:nvSpPr>
        <p:spPr>
          <a:xfrm>
            <a:off x="9189720" y="1737360"/>
            <a:ext cx="2331720" cy="2697480"/>
          </a:xfrm>
          <a:prstGeom prst="roundRect">
            <a:avLst>
              <a:gd name="adj" fmla="val 5098"/>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23" name="Shape 18"/>
          <p:cNvSpPr/>
          <p:nvPr/>
        </p:nvSpPr>
        <p:spPr>
          <a:xfrm>
            <a:off x="9966960" y="2011680"/>
            <a:ext cx="777240" cy="777240"/>
          </a:xfrm>
          <a:prstGeom prst="ellipse">
            <a:avLst/>
          </a:prstGeom>
          <a:solidFill>
            <a:srgbClr val="028090"/>
          </a:solidFill>
          <a:ln w="12700">
            <a:solidFill>
              <a:srgbClr val="028090"/>
            </a:solidFill>
            <a:prstDash val="solid"/>
          </a:ln>
        </p:spPr>
        <p:txBody>
          <a:bodyPr/>
          <a:lstStyle/>
          <a:p>
            <a:endParaRPr lang="ko-KR" altLang="en-US"/>
          </a:p>
        </p:txBody>
      </p:sp>
      <p:pic>
        <p:nvPicPr>
          <p:cNvPr id="24" name="Image 3" descr="preencoded.png"/>
          <p:cNvPicPr>
            <a:picLocks noChangeAspect="1"/>
          </p:cNvPicPr>
          <p:nvPr/>
        </p:nvPicPr>
        <p:blipFill>
          <a:blip r:embed="rId6"/>
          <a:stretch>
            <a:fillRect/>
          </a:stretch>
        </p:blipFill>
        <p:spPr>
          <a:xfrm>
            <a:off x="10192360" y="2237080"/>
            <a:ext cx="326441" cy="326441"/>
          </a:xfrm>
          <a:prstGeom prst="rect">
            <a:avLst/>
          </a:prstGeom>
        </p:spPr>
      </p:pic>
      <p:sp>
        <p:nvSpPr>
          <p:cNvPr id="25" name="Text 19"/>
          <p:cNvSpPr txBox="1"/>
          <p:nvPr/>
        </p:nvSpPr>
        <p:spPr>
          <a:xfrm>
            <a:off x="9372600" y="2944368"/>
            <a:ext cx="1965960" cy="310896"/>
          </a:xfrm>
          <a:prstGeom prst="rect">
            <a:avLst/>
          </a:prstGeom>
          <a:noFill/>
          <a:ln/>
        </p:spPr>
        <p:txBody>
          <a:bodyPr wrap="square" lIns="0" tIns="0" rIns="0" bIns="0" rtlCol="0" anchor="ctr"/>
          <a:lstStyle/>
          <a:p>
            <a:pPr marL="0" indent="0" algn="ctr">
              <a:buNone/>
            </a:pPr>
            <a:r>
              <a:rPr lang="en-US" sz="1600" b="1" dirty="0">
                <a:solidFill>
                  <a:srgbClr val="0F2126"/>
                </a:solidFill>
                <a:latin typeface="Malgun Gothic" pitchFamily="34" charset="0"/>
                <a:ea typeface="Malgun Gothic" pitchFamily="34" charset="-122"/>
                <a:cs typeface="Malgun Gothic" pitchFamily="34" charset="-120"/>
              </a:rPr>
              <a:t>뇌 재구성</a:t>
            </a:r>
            <a:endParaRPr lang="en-US" sz="1600" dirty="0"/>
          </a:p>
        </p:txBody>
      </p:sp>
      <p:sp>
        <p:nvSpPr>
          <p:cNvPr id="26" name="Text 20"/>
          <p:cNvSpPr txBox="1"/>
          <p:nvPr/>
        </p:nvSpPr>
        <p:spPr>
          <a:xfrm>
            <a:off x="9354312" y="3310128"/>
            <a:ext cx="2002536" cy="960120"/>
          </a:xfrm>
          <a:prstGeom prst="rect">
            <a:avLst/>
          </a:prstGeom>
          <a:noFill/>
          <a:ln/>
        </p:spPr>
        <p:txBody>
          <a:bodyPr wrap="square" lIns="0" tIns="0" rIns="0" bIns="0" rtlCol="0" anchor="ctr"/>
          <a:lstStyle/>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남은 신경세포가 연결을 강화</a:t>
            </a:r>
            <a:endParaRPr lang="en-US" sz="1150" dirty="0"/>
          </a:p>
          <a:p>
            <a:pPr marL="0" indent="0" algn="ctr">
              <a:lnSpc>
                <a:spcPts val="1700"/>
              </a:lnSpc>
              <a:buNone/>
            </a:pPr>
            <a:r>
              <a:rPr lang="en-US" sz="1150" dirty="0">
                <a:solidFill>
                  <a:srgbClr val="56686D"/>
                </a:solidFill>
                <a:latin typeface="Malgun Gothic" pitchFamily="34" charset="0"/>
                <a:ea typeface="Malgun Gothic" pitchFamily="34" charset="-122"/>
                <a:cs typeface="Malgun Gothic" pitchFamily="34" charset="-120"/>
              </a:rPr>
              <a:t>·우회 경로를 형성</a:t>
            </a:r>
            <a:endParaRPr lang="en-US" sz="1150" dirty="0"/>
          </a:p>
        </p:txBody>
      </p:sp>
      <p:sp>
        <p:nvSpPr>
          <p:cNvPr id="27" name="Shape 21"/>
          <p:cNvSpPr/>
          <p:nvPr/>
        </p:nvSpPr>
        <p:spPr>
          <a:xfrm>
            <a:off x="685800" y="4828032"/>
            <a:ext cx="10835640" cy="1298448"/>
          </a:xfrm>
          <a:prstGeom prst="roundRect">
            <a:avLst>
              <a:gd name="adj" fmla="val 9155"/>
            </a:avLst>
          </a:prstGeom>
          <a:solidFill>
            <a:srgbClr val="062A33"/>
          </a:solidFill>
          <a:ln w="12700">
            <a:solidFill>
              <a:srgbClr val="062A33"/>
            </a:solidFill>
            <a:prstDash val="solid"/>
          </a:ln>
        </p:spPr>
        <p:txBody>
          <a:bodyPr/>
          <a:lstStyle/>
          <a:p>
            <a:endParaRPr lang="ko-KR" altLang="en-US"/>
          </a:p>
        </p:txBody>
      </p:sp>
      <p:sp>
        <p:nvSpPr>
          <p:cNvPr id="28" name="Text 22"/>
          <p:cNvSpPr txBox="1"/>
          <p:nvPr/>
        </p:nvSpPr>
        <p:spPr>
          <a:xfrm>
            <a:off x="1051560" y="5074920"/>
            <a:ext cx="2377440" cy="320040"/>
          </a:xfrm>
          <a:prstGeom prst="rect">
            <a:avLst/>
          </a:prstGeom>
          <a:noFill/>
          <a:ln/>
        </p:spPr>
        <p:txBody>
          <a:bodyPr wrap="square" lIns="0" tIns="0" rIns="0" bIns="0" rtlCol="0" anchor="ctr"/>
          <a:lstStyle/>
          <a:p>
            <a:pPr marL="0" indent="0">
              <a:buNone/>
            </a:pPr>
            <a:r>
              <a:rPr lang="en-US" sz="1500" b="1" dirty="0">
                <a:solidFill>
                  <a:srgbClr val="00B99B"/>
                </a:solidFill>
                <a:latin typeface="Malgun Gothic" pitchFamily="34" charset="0"/>
                <a:ea typeface="Malgun Gothic" pitchFamily="34" charset="-122"/>
                <a:cs typeface="Malgun Gothic" pitchFamily="34" charset="-120"/>
              </a:rPr>
              <a:t>신경가소성이란?</a:t>
            </a:r>
            <a:endParaRPr lang="en-US" sz="1500" dirty="0"/>
          </a:p>
        </p:txBody>
      </p:sp>
      <p:sp>
        <p:nvSpPr>
          <p:cNvPr id="29" name="Text 23"/>
          <p:cNvSpPr txBox="1"/>
          <p:nvPr/>
        </p:nvSpPr>
        <p:spPr>
          <a:xfrm>
            <a:off x="3520440" y="5029200"/>
            <a:ext cx="7680960" cy="914400"/>
          </a:xfrm>
          <a:prstGeom prst="rect">
            <a:avLst/>
          </a:prstGeom>
          <a:noFill/>
          <a:ln/>
        </p:spPr>
        <p:txBody>
          <a:bodyPr wrap="square" lIns="0" tIns="0" rIns="0" bIns="0" rtlCol="0" anchor="ctr"/>
          <a:lstStyle/>
          <a:p>
            <a:pPr marL="0" indent="0">
              <a:lnSpc>
                <a:spcPts val="2200"/>
              </a:lnSpc>
              <a:buNone/>
            </a:pPr>
            <a:r>
              <a:rPr lang="en-US" sz="1300" dirty="0">
                <a:solidFill>
                  <a:srgbClr val="FFFFFF"/>
                </a:solidFill>
                <a:latin typeface="Malgun Gothic" pitchFamily="34" charset="0"/>
                <a:ea typeface="Malgun Gothic" pitchFamily="34" charset="-122"/>
                <a:cs typeface="Malgun Gothic" pitchFamily="34" charset="-120"/>
              </a:rPr>
              <a:t>신경이 완전히 새로 생기는 것이 아니라, 손상되지 않고 남아 있는 뇌 신경세포들이 연결을 강화하거나</a:t>
            </a:r>
            <a:endParaRPr lang="en-US" sz="1300" dirty="0"/>
          </a:p>
          <a:p>
            <a:pPr marL="0" indent="0">
              <a:lnSpc>
                <a:spcPts val="2200"/>
              </a:lnSpc>
              <a:buNone/>
            </a:pPr>
            <a:r>
              <a:rPr lang="en-US" sz="1300" dirty="0">
                <a:solidFill>
                  <a:srgbClr val="FFFFFF"/>
                </a:solidFill>
                <a:latin typeface="Malgun Gothic" pitchFamily="34" charset="0"/>
                <a:ea typeface="Malgun Gothic" pitchFamily="34" charset="-122"/>
                <a:cs typeface="Malgun Gothic" pitchFamily="34" charset="-120"/>
              </a:rPr>
              <a:t>새로운 우회 연결을 만들어 손상된 기능을 대신하도록 뇌가 스스로 재구성되는 능력</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02  기술 구성</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EMS와 openEMSstim : 컴퓨터가 자극 세기까지 제어</a:t>
            </a:r>
            <a:endParaRPr lang="en-US" sz="3100" dirty="0"/>
          </a:p>
        </p:txBody>
      </p:sp>
      <p:sp>
        <p:nvSpPr>
          <p:cNvPr id="4" name="Shape 2"/>
          <p:cNvSpPr/>
          <p:nvPr/>
        </p:nvSpPr>
        <p:spPr>
          <a:xfrm>
            <a:off x="685800" y="1737360"/>
            <a:ext cx="18288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5" name="Shape 3"/>
          <p:cNvSpPr/>
          <p:nvPr/>
        </p:nvSpPr>
        <p:spPr>
          <a:xfrm>
            <a:off x="1289304" y="1901952"/>
            <a:ext cx="621792" cy="621792"/>
          </a:xfrm>
          <a:prstGeom prst="ellipse">
            <a:avLst/>
          </a:prstGeom>
          <a:solidFill>
            <a:srgbClr val="0C4450"/>
          </a:solidFill>
          <a:ln w="12700">
            <a:solidFill>
              <a:srgbClr val="0C4450"/>
            </a:solidFill>
            <a:prstDash val="solid"/>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1469624" y="2082272"/>
            <a:ext cx="261153" cy="261153"/>
          </a:xfrm>
          <a:prstGeom prst="rect">
            <a:avLst/>
          </a:prstGeom>
        </p:spPr>
      </p:pic>
      <p:sp>
        <p:nvSpPr>
          <p:cNvPr id="7" name="Text 4"/>
          <p:cNvSpPr txBox="1"/>
          <p:nvPr/>
        </p:nvSpPr>
        <p:spPr>
          <a:xfrm>
            <a:off x="731520" y="2651760"/>
            <a:ext cx="1737360" cy="256032"/>
          </a:xfrm>
          <a:prstGeom prst="rect">
            <a:avLst/>
          </a:prstGeom>
          <a:noFill/>
          <a:ln/>
        </p:spPr>
        <p:txBody>
          <a:bodyPr wrap="square" lIns="0" tIns="0" rIns="0" bIns="0" rtlCol="0" anchor="ctr"/>
          <a:lstStyle/>
          <a:p>
            <a:pPr marL="0" indent="0" algn="ctr">
              <a:buNone/>
            </a:pPr>
            <a:r>
              <a:rPr lang="en-US" sz="1300" b="1" dirty="0">
                <a:solidFill>
                  <a:srgbClr val="0F2126"/>
                </a:solidFill>
                <a:latin typeface="Malgun Gothic" pitchFamily="34" charset="0"/>
                <a:ea typeface="Malgun Gothic" pitchFamily="34" charset="-122"/>
                <a:cs typeface="Malgun Gothic" pitchFamily="34" charset="-120"/>
              </a:rPr>
              <a:t>제어 PC</a:t>
            </a:r>
            <a:endParaRPr lang="en-US" sz="1300" dirty="0"/>
          </a:p>
        </p:txBody>
      </p:sp>
      <p:sp>
        <p:nvSpPr>
          <p:cNvPr id="8" name="Text 5"/>
          <p:cNvSpPr txBox="1"/>
          <p:nvPr/>
        </p:nvSpPr>
        <p:spPr>
          <a:xfrm>
            <a:off x="731520" y="2944368"/>
            <a:ext cx="1737360" cy="256032"/>
          </a:xfrm>
          <a:prstGeom prst="rect">
            <a:avLst/>
          </a:prstGeom>
          <a:noFill/>
          <a:ln/>
        </p:spPr>
        <p:txBody>
          <a:bodyPr wrap="square" lIns="0" tIns="0" rIns="0" bIns="0" rtlCol="0" anchor="ctr"/>
          <a:lstStyle/>
          <a:p>
            <a:pPr marL="0" indent="0" algn="ctr">
              <a:buNone/>
            </a:pPr>
            <a:r>
              <a:rPr lang="en-US" sz="1000" dirty="0">
                <a:solidFill>
                  <a:srgbClr val="56686D"/>
                </a:solidFill>
                <a:latin typeface="Malgun Gothic" pitchFamily="34" charset="0"/>
                <a:ea typeface="Malgun Gothic" pitchFamily="34" charset="-122"/>
                <a:cs typeface="Malgun Gothic" pitchFamily="34" charset="-120"/>
              </a:rPr>
              <a:t>동작 인식·제어 SW</a:t>
            </a:r>
            <a:endParaRPr lang="en-US" sz="1000" dirty="0"/>
          </a:p>
        </p:txBody>
      </p:sp>
      <p:sp>
        <p:nvSpPr>
          <p:cNvPr id="9" name="Shape 6"/>
          <p:cNvSpPr/>
          <p:nvPr/>
        </p:nvSpPr>
        <p:spPr>
          <a:xfrm>
            <a:off x="2569464" y="2487168"/>
            <a:ext cx="301752" cy="292608"/>
          </a:xfrm>
          <a:prstGeom prst="rightArrow">
            <a:avLst/>
          </a:prstGeom>
          <a:solidFill>
            <a:srgbClr val="00B99B"/>
          </a:solidFill>
          <a:ln w="12700">
            <a:solidFill>
              <a:srgbClr val="00B99B"/>
            </a:solidFill>
            <a:prstDash val="solid"/>
          </a:ln>
        </p:spPr>
        <p:txBody>
          <a:bodyPr/>
          <a:lstStyle/>
          <a:p>
            <a:endParaRPr lang="ko-KR" altLang="en-US"/>
          </a:p>
        </p:txBody>
      </p:sp>
      <p:sp>
        <p:nvSpPr>
          <p:cNvPr id="10" name="Shape 7"/>
          <p:cNvSpPr/>
          <p:nvPr/>
        </p:nvSpPr>
        <p:spPr>
          <a:xfrm>
            <a:off x="2926080" y="1737360"/>
            <a:ext cx="18288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1" name="Shape 8"/>
          <p:cNvSpPr/>
          <p:nvPr/>
        </p:nvSpPr>
        <p:spPr>
          <a:xfrm>
            <a:off x="3529584" y="1901952"/>
            <a:ext cx="621792" cy="621792"/>
          </a:xfrm>
          <a:prstGeom prst="ellipse">
            <a:avLst/>
          </a:prstGeom>
          <a:solidFill>
            <a:srgbClr val="FF6B35"/>
          </a:solidFill>
          <a:ln w="12700">
            <a:solidFill>
              <a:srgbClr val="FF6B35"/>
            </a:solidFill>
            <a:prstDash val="solid"/>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3709904" y="2082272"/>
            <a:ext cx="261153" cy="261153"/>
          </a:xfrm>
          <a:prstGeom prst="rect">
            <a:avLst/>
          </a:prstGeom>
        </p:spPr>
      </p:pic>
      <p:sp>
        <p:nvSpPr>
          <p:cNvPr id="13" name="Text 9"/>
          <p:cNvSpPr txBox="1"/>
          <p:nvPr/>
        </p:nvSpPr>
        <p:spPr>
          <a:xfrm>
            <a:off x="2971800" y="2651760"/>
            <a:ext cx="1737360" cy="256032"/>
          </a:xfrm>
          <a:prstGeom prst="rect">
            <a:avLst/>
          </a:prstGeom>
          <a:noFill/>
          <a:ln/>
        </p:spPr>
        <p:txBody>
          <a:bodyPr wrap="square" lIns="0" tIns="0" rIns="0" bIns="0" rtlCol="0" anchor="ctr"/>
          <a:lstStyle/>
          <a:p>
            <a:pPr marL="0" indent="0" algn="ctr">
              <a:buNone/>
            </a:pPr>
            <a:r>
              <a:rPr lang="en-US" sz="1300" b="1" dirty="0">
                <a:solidFill>
                  <a:srgbClr val="0F2126"/>
                </a:solidFill>
                <a:latin typeface="Malgun Gothic" pitchFamily="34" charset="0"/>
                <a:ea typeface="Malgun Gothic" pitchFamily="34" charset="-122"/>
                <a:cs typeface="Malgun Gothic" pitchFamily="34" charset="-120"/>
              </a:rPr>
              <a:t>openEMSstim</a:t>
            </a:r>
            <a:endParaRPr lang="en-US" sz="1300" dirty="0"/>
          </a:p>
        </p:txBody>
      </p:sp>
      <p:sp>
        <p:nvSpPr>
          <p:cNvPr id="14" name="Text 10"/>
          <p:cNvSpPr txBox="1"/>
          <p:nvPr/>
        </p:nvSpPr>
        <p:spPr>
          <a:xfrm>
            <a:off x="2971800" y="2944368"/>
            <a:ext cx="1737360" cy="256032"/>
          </a:xfrm>
          <a:prstGeom prst="rect">
            <a:avLst/>
          </a:prstGeom>
          <a:noFill/>
          <a:ln/>
        </p:spPr>
        <p:txBody>
          <a:bodyPr wrap="square" lIns="0" tIns="0" rIns="0" bIns="0" rtlCol="0" anchor="ctr"/>
          <a:lstStyle/>
          <a:p>
            <a:pPr marL="0" indent="0" algn="ctr">
              <a:buNone/>
            </a:pPr>
            <a:r>
              <a:rPr lang="en-US" sz="1000" dirty="0">
                <a:solidFill>
                  <a:srgbClr val="56686D"/>
                </a:solidFill>
                <a:latin typeface="Malgun Gothic" pitchFamily="34" charset="0"/>
                <a:ea typeface="Malgun Gothic" pitchFamily="34" charset="-122"/>
                <a:cs typeface="Malgun Gothic" pitchFamily="34" charset="-120"/>
              </a:rPr>
              <a:t>직접 제작한 보드</a:t>
            </a:r>
            <a:endParaRPr lang="en-US" sz="1000" dirty="0"/>
          </a:p>
        </p:txBody>
      </p:sp>
      <p:sp>
        <p:nvSpPr>
          <p:cNvPr id="15" name="Shape 11"/>
          <p:cNvSpPr/>
          <p:nvPr/>
        </p:nvSpPr>
        <p:spPr>
          <a:xfrm>
            <a:off x="4809744" y="2487168"/>
            <a:ext cx="301752" cy="292608"/>
          </a:xfrm>
          <a:prstGeom prst="rightArrow">
            <a:avLst/>
          </a:prstGeom>
          <a:solidFill>
            <a:srgbClr val="00B99B"/>
          </a:solidFill>
          <a:ln w="12700">
            <a:solidFill>
              <a:srgbClr val="00B99B"/>
            </a:solidFill>
            <a:prstDash val="solid"/>
          </a:ln>
        </p:spPr>
        <p:txBody>
          <a:bodyPr/>
          <a:lstStyle/>
          <a:p>
            <a:endParaRPr lang="ko-KR" altLang="en-US"/>
          </a:p>
        </p:txBody>
      </p:sp>
      <p:sp>
        <p:nvSpPr>
          <p:cNvPr id="16" name="Shape 12"/>
          <p:cNvSpPr/>
          <p:nvPr/>
        </p:nvSpPr>
        <p:spPr>
          <a:xfrm>
            <a:off x="5166360" y="1737360"/>
            <a:ext cx="18288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7" name="Shape 13"/>
          <p:cNvSpPr/>
          <p:nvPr/>
        </p:nvSpPr>
        <p:spPr>
          <a:xfrm>
            <a:off x="5769864" y="1901952"/>
            <a:ext cx="621792" cy="621792"/>
          </a:xfrm>
          <a:prstGeom prst="ellipse">
            <a:avLst/>
          </a:prstGeom>
          <a:solidFill>
            <a:srgbClr val="0C4450"/>
          </a:solidFill>
          <a:ln w="12700">
            <a:solidFill>
              <a:srgbClr val="0C4450"/>
            </a:solidFill>
            <a:prstDash val="solid"/>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5950184" y="2082272"/>
            <a:ext cx="261153" cy="261153"/>
          </a:xfrm>
          <a:prstGeom prst="rect">
            <a:avLst/>
          </a:prstGeom>
        </p:spPr>
      </p:pic>
      <p:sp>
        <p:nvSpPr>
          <p:cNvPr id="19" name="Text 14"/>
          <p:cNvSpPr txBox="1"/>
          <p:nvPr/>
        </p:nvSpPr>
        <p:spPr>
          <a:xfrm>
            <a:off x="5212080" y="2651760"/>
            <a:ext cx="1737360" cy="256032"/>
          </a:xfrm>
          <a:prstGeom prst="rect">
            <a:avLst/>
          </a:prstGeom>
          <a:noFill/>
          <a:ln/>
        </p:spPr>
        <p:txBody>
          <a:bodyPr wrap="square" lIns="0" tIns="0" rIns="0" bIns="0" rtlCol="0" anchor="ctr"/>
          <a:lstStyle/>
          <a:p>
            <a:pPr marL="0" indent="0" algn="ctr">
              <a:buNone/>
            </a:pPr>
            <a:r>
              <a:rPr lang="en-US" sz="1300" b="1" dirty="0">
                <a:solidFill>
                  <a:srgbClr val="0F2126"/>
                </a:solidFill>
                <a:latin typeface="Malgun Gothic" pitchFamily="34" charset="0"/>
                <a:ea typeface="Malgun Gothic" pitchFamily="34" charset="-122"/>
                <a:cs typeface="Malgun Gothic" pitchFamily="34" charset="-120"/>
              </a:rPr>
              <a:t>TENS 자극 장치</a:t>
            </a:r>
            <a:endParaRPr lang="en-US" sz="1300" dirty="0"/>
          </a:p>
        </p:txBody>
      </p:sp>
      <p:sp>
        <p:nvSpPr>
          <p:cNvPr id="20" name="Text 15"/>
          <p:cNvSpPr txBox="1"/>
          <p:nvPr/>
        </p:nvSpPr>
        <p:spPr>
          <a:xfrm>
            <a:off x="5212080" y="2944368"/>
            <a:ext cx="1737360" cy="256032"/>
          </a:xfrm>
          <a:prstGeom prst="rect">
            <a:avLst/>
          </a:prstGeom>
          <a:noFill/>
          <a:ln/>
        </p:spPr>
        <p:txBody>
          <a:bodyPr wrap="square" lIns="0" tIns="0" rIns="0" bIns="0" rtlCol="0" anchor="ctr"/>
          <a:lstStyle/>
          <a:p>
            <a:pPr marL="0" indent="0" algn="ctr">
              <a:buNone/>
            </a:pPr>
            <a:r>
              <a:rPr lang="en-US" sz="1000" dirty="0">
                <a:solidFill>
                  <a:srgbClr val="56686D"/>
                </a:solidFill>
                <a:latin typeface="Malgun Gothic" pitchFamily="34" charset="0"/>
                <a:ea typeface="Malgun Gothic" pitchFamily="34" charset="-122"/>
                <a:cs typeface="Malgun Gothic" pitchFamily="34" charset="-120"/>
              </a:rPr>
              <a:t>저주파 파형 생성</a:t>
            </a:r>
            <a:endParaRPr lang="en-US" sz="1000" dirty="0"/>
          </a:p>
        </p:txBody>
      </p:sp>
      <p:sp>
        <p:nvSpPr>
          <p:cNvPr id="21" name="Shape 16"/>
          <p:cNvSpPr/>
          <p:nvPr/>
        </p:nvSpPr>
        <p:spPr>
          <a:xfrm>
            <a:off x="7050024" y="2487168"/>
            <a:ext cx="301752" cy="292608"/>
          </a:xfrm>
          <a:prstGeom prst="rightArrow">
            <a:avLst/>
          </a:prstGeom>
          <a:solidFill>
            <a:srgbClr val="00B99B"/>
          </a:solidFill>
          <a:ln w="12700">
            <a:solidFill>
              <a:srgbClr val="00B99B"/>
            </a:solidFill>
            <a:prstDash val="solid"/>
          </a:ln>
        </p:spPr>
        <p:txBody>
          <a:bodyPr/>
          <a:lstStyle/>
          <a:p>
            <a:endParaRPr lang="ko-KR" altLang="en-US"/>
          </a:p>
        </p:txBody>
      </p:sp>
      <p:sp>
        <p:nvSpPr>
          <p:cNvPr id="22" name="Shape 17"/>
          <p:cNvSpPr/>
          <p:nvPr/>
        </p:nvSpPr>
        <p:spPr>
          <a:xfrm>
            <a:off x="7406640" y="1737360"/>
            <a:ext cx="18288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23" name="Shape 18"/>
          <p:cNvSpPr/>
          <p:nvPr/>
        </p:nvSpPr>
        <p:spPr>
          <a:xfrm>
            <a:off x="8010144" y="1901952"/>
            <a:ext cx="621792" cy="621792"/>
          </a:xfrm>
          <a:prstGeom prst="ellipse">
            <a:avLst/>
          </a:prstGeom>
          <a:solidFill>
            <a:srgbClr val="0C4450"/>
          </a:solidFill>
          <a:ln w="12700">
            <a:solidFill>
              <a:srgbClr val="0C4450"/>
            </a:solidFill>
            <a:prstDash val="solid"/>
          </a:ln>
        </p:spPr>
        <p:txBody>
          <a:bodyPr/>
          <a:lstStyle/>
          <a:p>
            <a:endParaRPr lang="ko-KR" altLang="en-US"/>
          </a:p>
        </p:txBody>
      </p:sp>
      <p:pic>
        <p:nvPicPr>
          <p:cNvPr id="24" name="Image 3" descr="preencoded.png"/>
          <p:cNvPicPr>
            <a:picLocks noChangeAspect="1"/>
          </p:cNvPicPr>
          <p:nvPr/>
        </p:nvPicPr>
        <p:blipFill>
          <a:blip r:embed="rId6"/>
          <a:stretch>
            <a:fillRect/>
          </a:stretch>
        </p:blipFill>
        <p:spPr>
          <a:xfrm>
            <a:off x="8190464" y="2082272"/>
            <a:ext cx="261153" cy="261153"/>
          </a:xfrm>
          <a:prstGeom prst="rect">
            <a:avLst/>
          </a:prstGeom>
        </p:spPr>
      </p:pic>
      <p:sp>
        <p:nvSpPr>
          <p:cNvPr id="25" name="Text 19"/>
          <p:cNvSpPr txBox="1"/>
          <p:nvPr/>
        </p:nvSpPr>
        <p:spPr>
          <a:xfrm>
            <a:off x="7452360" y="2651760"/>
            <a:ext cx="1737360" cy="256032"/>
          </a:xfrm>
          <a:prstGeom prst="rect">
            <a:avLst/>
          </a:prstGeom>
          <a:noFill/>
          <a:ln/>
        </p:spPr>
        <p:txBody>
          <a:bodyPr wrap="square" lIns="0" tIns="0" rIns="0" bIns="0" rtlCol="0" anchor="ctr"/>
          <a:lstStyle/>
          <a:p>
            <a:pPr marL="0" indent="0" algn="ctr">
              <a:buNone/>
            </a:pPr>
            <a:r>
              <a:rPr lang="en-US" sz="1300" b="1" dirty="0">
                <a:solidFill>
                  <a:srgbClr val="0F2126"/>
                </a:solidFill>
                <a:latin typeface="Malgun Gothic" pitchFamily="34" charset="0"/>
                <a:ea typeface="Malgun Gothic" pitchFamily="34" charset="-122"/>
                <a:cs typeface="Malgun Gothic" pitchFamily="34" charset="-120"/>
              </a:rPr>
              <a:t>전극 패치</a:t>
            </a:r>
            <a:endParaRPr lang="en-US" sz="1300" dirty="0"/>
          </a:p>
        </p:txBody>
      </p:sp>
      <p:sp>
        <p:nvSpPr>
          <p:cNvPr id="26" name="Text 20"/>
          <p:cNvSpPr txBox="1"/>
          <p:nvPr/>
        </p:nvSpPr>
        <p:spPr>
          <a:xfrm>
            <a:off x="7452360" y="2944368"/>
            <a:ext cx="1737360" cy="256032"/>
          </a:xfrm>
          <a:prstGeom prst="rect">
            <a:avLst/>
          </a:prstGeom>
          <a:noFill/>
          <a:ln/>
        </p:spPr>
        <p:txBody>
          <a:bodyPr wrap="square" lIns="0" tIns="0" rIns="0" bIns="0" rtlCol="0" anchor="ctr"/>
          <a:lstStyle/>
          <a:p>
            <a:pPr marL="0" indent="0" algn="ctr">
              <a:buNone/>
            </a:pPr>
            <a:r>
              <a:rPr lang="en-US" sz="1000" dirty="0">
                <a:solidFill>
                  <a:srgbClr val="56686D"/>
                </a:solidFill>
                <a:latin typeface="Malgun Gothic" pitchFamily="34" charset="0"/>
                <a:ea typeface="Malgun Gothic" pitchFamily="34" charset="-122"/>
                <a:cs typeface="Malgun Gothic" pitchFamily="34" charset="-120"/>
              </a:rPr>
              <a:t>팔 근육에 부착</a:t>
            </a:r>
            <a:endParaRPr lang="en-US" sz="1000" dirty="0"/>
          </a:p>
        </p:txBody>
      </p:sp>
      <p:sp>
        <p:nvSpPr>
          <p:cNvPr id="27" name="Shape 21"/>
          <p:cNvSpPr/>
          <p:nvPr/>
        </p:nvSpPr>
        <p:spPr>
          <a:xfrm>
            <a:off x="9290304" y="2487168"/>
            <a:ext cx="301752" cy="292608"/>
          </a:xfrm>
          <a:prstGeom prst="rightArrow">
            <a:avLst/>
          </a:prstGeom>
          <a:solidFill>
            <a:srgbClr val="00B99B"/>
          </a:solidFill>
          <a:ln w="12700">
            <a:solidFill>
              <a:srgbClr val="00B99B"/>
            </a:solidFill>
            <a:prstDash val="solid"/>
          </a:ln>
        </p:spPr>
        <p:txBody>
          <a:bodyPr/>
          <a:lstStyle/>
          <a:p>
            <a:endParaRPr lang="ko-KR" altLang="en-US"/>
          </a:p>
        </p:txBody>
      </p:sp>
      <p:sp>
        <p:nvSpPr>
          <p:cNvPr id="28" name="Shape 22"/>
          <p:cNvSpPr/>
          <p:nvPr/>
        </p:nvSpPr>
        <p:spPr>
          <a:xfrm>
            <a:off x="9646920" y="1737360"/>
            <a:ext cx="18288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29" name="Shape 23"/>
          <p:cNvSpPr/>
          <p:nvPr/>
        </p:nvSpPr>
        <p:spPr>
          <a:xfrm>
            <a:off x="10250424" y="1901952"/>
            <a:ext cx="621792" cy="621792"/>
          </a:xfrm>
          <a:prstGeom prst="ellipse">
            <a:avLst/>
          </a:prstGeom>
          <a:solidFill>
            <a:srgbClr val="028090"/>
          </a:solidFill>
          <a:ln w="12700">
            <a:solidFill>
              <a:srgbClr val="028090"/>
            </a:solidFill>
            <a:prstDash val="solid"/>
          </a:ln>
        </p:spPr>
        <p:txBody>
          <a:bodyPr/>
          <a:lstStyle/>
          <a:p>
            <a:endParaRPr lang="ko-KR" altLang="en-US"/>
          </a:p>
        </p:txBody>
      </p:sp>
      <p:pic>
        <p:nvPicPr>
          <p:cNvPr id="30" name="Image 4" descr="preencoded.png"/>
          <p:cNvPicPr>
            <a:picLocks noChangeAspect="1"/>
          </p:cNvPicPr>
          <p:nvPr/>
        </p:nvPicPr>
        <p:blipFill>
          <a:blip r:embed="rId7"/>
          <a:stretch>
            <a:fillRect/>
          </a:stretch>
        </p:blipFill>
        <p:spPr>
          <a:xfrm>
            <a:off x="10430744" y="2082272"/>
            <a:ext cx="261153" cy="261153"/>
          </a:xfrm>
          <a:prstGeom prst="rect">
            <a:avLst/>
          </a:prstGeom>
        </p:spPr>
      </p:pic>
      <p:sp>
        <p:nvSpPr>
          <p:cNvPr id="31" name="Text 24"/>
          <p:cNvSpPr txBox="1"/>
          <p:nvPr/>
        </p:nvSpPr>
        <p:spPr>
          <a:xfrm>
            <a:off x="9692640" y="2651760"/>
            <a:ext cx="1737360" cy="256032"/>
          </a:xfrm>
          <a:prstGeom prst="rect">
            <a:avLst/>
          </a:prstGeom>
          <a:noFill/>
          <a:ln/>
        </p:spPr>
        <p:txBody>
          <a:bodyPr wrap="square" lIns="0" tIns="0" rIns="0" bIns="0" rtlCol="0" anchor="ctr"/>
          <a:lstStyle/>
          <a:p>
            <a:pPr marL="0" indent="0" algn="ctr">
              <a:buNone/>
            </a:pPr>
            <a:r>
              <a:rPr lang="en-US" sz="1300" b="1" dirty="0">
                <a:solidFill>
                  <a:srgbClr val="0F2126"/>
                </a:solidFill>
                <a:latin typeface="Malgun Gothic" pitchFamily="34" charset="0"/>
                <a:ea typeface="Malgun Gothic" pitchFamily="34" charset="-122"/>
                <a:cs typeface="Malgun Gothic" pitchFamily="34" charset="-120"/>
              </a:rPr>
              <a:t>근육 수축</a:t>
            </a:r>
            <a:endParaRPr lang="en-US" sz="1300" dirty="0"/>
          </a:p>
        </p:txBody>
      </p:sp>
      <p:sp>
        <p:nvSpPr>
          <p:cNvPr id="32" name="Text 25"/>
          <p:cNvSpPr txBox="1"/>
          <p:nvPr/>
        </p:nvSpPr>
        <p:spPr>
          <a:xfrm>
            <a:off x="9692640" y="2944368"/>
            <a:ext cx="1737360" cy="256032"/>
          </a:xfrm>
          <a:prstGeom prst="rect">
            <a:avLst/>
          </a:prstGeom>
          <a:noFill/>
          <a:ln/>
        </p:spPr>
        <p:txBody>
          <a:bodyPr wrap="square" lIns="0" tIns="0" rIns="0" bIns="0" rtlCol="0" anchor="ctr"/>
          <a:lstStyle/>
          <a:p>
            <a:pPr marL="0" indent="0" algn="ctr">
              <a:buNone/>
            </a:pPr>
            <a:r>
              <a:rPr lang="en-US" sz="1000" dirty="0">
                <a:solidFill>
                  <a:srgbClr val="56686D"/>
                </a:solidFill>
                <a:latin typeface="Malgun Gothic" pitchFamily="34" charset="0"/>
                <a:ea typeface="Malgun Gothic" pitchFamily="34" charset="-122"/>
                <a:cs typeface="Malgun Gothic" pitchFamily="34" charset="-120"/>
              </a:rPr>
              <a:t>손 동작 발생</a:t>
            </a:r>
            <a:endParaRPr lang="en-US" sz="1000" dirty="0"/>
          </a:p>
        </p:txBody>
      </p:sp>
      <p:sp>
        <p:nvSpPr>
          <p:cNvPr id="33" name="Shape 26"/>
          <p:cNvSpPr/>
          <p:nvPr/>
        </p:nvSpPr>
        <p:spPr>
          <a:xfrm>
            <a:off x="594360" y="3840480"/>
            <a:ext cx="4315968" cy="2103120"/>
          </a:xfrm>
          <a:prstGeom prst="roundRect">
            <a:avLst>
              <a:gd name="adj" fmla="val 4348"/>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pic>
        <p:nvPicPr>
          <p:cNvPr id="34" name="Image 5" descr="img/board.jpg"/>
          <p:cNvPicPr>
            <a:picLocks noChangeAspect="1"/>
          </p:cNvPicPr>
          <p:nvPr/>
        </p:nvPicPr>
        <p:blipFill>
          <a:blip r:embed="rId8"/>
          <a:stretch>
            <a:fillRect/>
          </a:stretch>
        </p:blipFill>
        <p:spPr>
          <a:xfrm>
            <a:off x="685800" y="3931920"/>
            <a:ext cx="4133088" cy="1920240"/>
          </a:xfrm>
          <a:prstGeom prst="rect">
            <a:avLst/>
          </a:prstGeom>
        </p:spPr>
      </p:pic>
      <p:sp>
        <p:nvSpPr>
          <p:cNvPr id="35" name="Shape 27"/>
          <p:cNvSpPr/>
          <p:nvPr/>
        </p:nvSpPr>
        <p:spPr>
          <a:xfrm>
            <a:off x="5001768" y="3840480"/>
            <a:ext cx="2103120" cy="2103120"/>
          </a:xfrm>
          <a:prstGeom prst="roundRect">
            <a:avLst>
              <a:gd name="adj" fmla="val 4348"/>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pic>
        <p:nvPicPr>
          <p:cNvPr id="36" name="Image 6" descr="img/tens.jpg"/>
          <p:cNvPicPr>
            <a:picLocks noChangeAspect="1"/>
          </p:cNvPicPr>
          <p:nvPr/>
        </p:nvPicPr>
        <p:blipFill>
          <a:blip r:embed="rId9"/>
          <a:stretch>
            <a:fillRect/>
          </a:stretch>
        </p:blipFill>
        <p:spPr>
          <a:xfrm>
            <a:off x="5093208" y="3931920"/>
            <a:ext cx="1920240" cy="1920240"/>
          </a:xfrm>
          <a:prstGeom prst="rect">
            <a:avLst/>
          </a:prstGeom>
        </p:spPr>
      </p:pic>
      <p:sp>
        <p:nvSpPr>
          <p:cNvPr id="37" name="Text 28"/>
          <p:cNvSpPr txBox="1"/>
          <p:nvPr/>
        </p:nvSpPr>
        <p:spPr>
          <a:xfrm>
            <a:off x="685800" y="6035040"/>
            <a:ext cx="4133088" cy="274320"/>
          </a:xfrm>
          <a:prstGeom prst="rect">
            <a:avLst/>
          </a:prstGeom>
          <a:noFill/>
          <a:ln/>
        </p:spPr>
        <p:txBody>
          <a:bodyPr wrap="square" lIns="0" tIns="0" rIns="0" bIns="0" rtlCol="0" anchor="ctr"/>
          <a:lstStyle/>
          <a:p>
            <a:pPr marL="0" indent="0">
              <a:buNone/>
            </a:pPr>
            <a:r>
              <a:rPr lang="en-US" sz="1050" dirty="0">
                <a:solidFill>
                  <a:srgbClr val="56686D"/>
                </a:solidFill>
                <a:latin typeface="Malgun Gothic" pitchFamily="34" charset="0"/>
                <a:ea typeface="Malgun Gothic" pitchFamily="34" charset="-122"/>
                <a:cs typeface="Malgun Gothic" pitchFamily="34" charset="-120"/>
              </a:rPr>
              <a:t>제작한 제어 보드  ·  Arduino Nano + 커스텀 PCB, 2채널 출력</a:t>
            </a:r>
            <a:endParaRPr lang="en-US" sz="1050" dirty="0"/>
          </a:p>
        </p:txBody>
      </p:sp>
      <p:sp>
        <p:nvSpPr>
          <p:cNvPr id="38" name="Text 29"/>
          <p:cNvSpPr txBox="1"/>
          <p:nvPr/>
        </p:nvSpPr>
        <p:spPr>
          <a:xfrm>
            <a:off x="5093208" y="6035040"/>
            <a:ext cx="2103120" cy="274320"/>
          </a:xfrm>
          <a:prstGeom prst="rect">
            <a:avLst/>
          </a:prstGeom>
          <a:noFill/>
          <a:ln/>
        </p:spPr>
        <p:txBody>
          <a:bodyPr wrap="square" lIns="0" tIns="0" rIns="0" bIns="0" rtlCol="0" anchor="ctr"/>
          <a:lstStyle/>
          <a:p>
            <a:pPr marL="0" indent="0">
              <a:buNone/>
            </a:pPr>
            <a:r>
              <a:rPr lang="en-US" sz="1050" dirty="0">
                <a:solidFill>
                  <a:srgbClr val="56686D"/>
                </a:solidFill>
                <a:latin typeface="Malgun Gothic" pitchFamily="34" charset="0"/>
                <a:ea typeface="Malgun Gothic" pitchFamily="34" charset="-122"/>
                <a:cs typeface="Malgun Gothic" pitchFamily="34" charset="-120"/>
              </a:rPr>
              <a:t>TENS 장치 · 전극 패치</a:t>
            </a:r>
            <a:endParaRPr lang="en-US" sz="1050" dirty="0"/>
          </a:p>
        </p:txBody>
      </p:sp>
      <p:sp>
        <p:nvSpPr>
          <p:cNvPr id="39" name="Shape 30"/>
          <p:cNvSpPr/>
          <p:nvPr/>
        </p:nvSpPr>
        <p:spPr>
          <a:xfrm>
            <a:off x="7333488" y="3840480"/>
            <a:ext cx="4142232" cy="2103120"/>
          </a:xfrm>
          <a:prstGeom prst="roundRect">
            <a:avLst>
              <a:gd name="adj" fmla="val 5652"/>
            </a:avLst>
          </a:prstGeom>
          <a:solidFill>
            <a:srgbClr val="028090"/>
          </a:solidFill>
          <a:ln w="12700">
            <a:solidFill>
              <a:srgbClr val="028090"/>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40" name="Shape 31"/>
          <p:cNvSpPr/>
          <p:nvPr/>
        </p:nvSpPr>
        <p:spPr>
          <a:xfrm>
            <a:off x="10607040" y="4114800"/>
            <a:ext cx="457200" cy="457200"/>
          </a:xfrm>
          <a:prstGeom prst="ellipse">
            <a:avLst/>
          </a:prstGeom>
          <a:solidFill>
            <a:srgbClr val="00B99B"/>
          </a:solidFill>
          <a:ln w="12700">
            <a:solidFill>
              <a:srgbClr val="00B99B"/>
            </a:solidFill>
            <a:prstDash val="solid"/>
          </a:ln>
        </p:spPr>
        <p:txBody>
          <a:bodyPr/>
          <a:lstStyle/>
          <a:p>
            <a:endParaRPr lang="ko-KR" altLang="en-US"/>
          </a:p>
        </p:txBody>
      </p:sp>
      <p:pic>
        <p:nvPicPr>
          <p:cNvPr id="41" name="Image 7" descr="preencoded.png"/>
          <p:cNvPicPr>
            <a:picLocks noChangeAspect="1"/>
          </p:cNvPicPr>
          <p:nvPr/>
        </p:nvPicPr>
        <p:blipFill>
          <a:blip r:embed="rId10"/>
          <a:stretch>
            <a:fillRect/>
          </a:stretch>
        </p:blipFill>
        <p:spPr>
          <a:xfrm>
            <a:off x="10739628" y="4247388"/>
            <a:ext cx="192024" cy="192024"/>
          </a:xfrm>
          <a:prstGeom prst="rect">
            <a:avLst/>
          </a:prstGeom>
        </p:spPr>
      </p:pic>
      <p:sp>
        <p:nvSpPr>
          <p:cNvPr id="42" name="Text 32"/>
          <p:cNvSpPr txBox="1"/>
          <p:nvPr/>
        </p:nvSpPr>
        <p:spPr>
          <a:xfrm>
            <a:off x="7653528" y="4160520"/>
            <a:ext cx="2834640" cy="310896"/>
          </a:xfrm>
          <a:prstGeom prst="rect">
            <a:avLst/>
          </a:prstGeom>
          <a:noFill/>
          <a:ln/>
        </p:spPr>
        <p:txBody>
          <a:bodyPr wrap="square" lIns="0" tIns="0" rIns="0" bIns="0" rtlCol="0" anchor="ctr"/>
          <a:lstStyle/>
          <a:p>
            <a:pPr marL="0" indent="0">
              <a:buNone/>
            </a:pPr>
            <a:r>
              <a:rPr lang="en-US" sz="1500" b="1" dirty="0">
                <a:solidFill>
                  <a:srgbClr val="FFFFFF"/>
                </a:solidFill>
                <a:latin typeface="Malgun Gothic" pitchFamily="34" charset="0"/>
                <a:ea typeface="Malgun Gothic" pitchFamily="34" charset="-122"/>
                <a:cs typeface="Malgun Gothic" pitchFamily="34" charset="-120"/>
              </a:rPr>
              <a:t>openEMSstim 적용</a:t>
            </a:r>
            <a:endParaRPr lang="en-US" sz="1500" dirty="0"/>
          </a:p>
        </p:txBody>
      </p:sp>
      <p:sp>
        <p:nvSpPr>
          <p:cNvPr id="43" name="Text 33"/>
          <p:cNvSpPr txBox="1"/>
          <p:nvPr/>
        </p:nvSpPr>
        <p:spPr>
          <a:xfrm>
            <a:off x="7653528" y="4617720"/>
            <a:ext cx="3520440" cy="1097280"/>
          </a:xfrm>
          <a:prstGeom prst="rect">
            <a:avLst/>
          </a:prstGeom>
          <a:noFill/>
          <a:ln/>
        </p:spPr>
        <p:txBody>
          <a:bodyPr wrap="square" lIns="0" tIns="0" rIns="0" bIns="0" rtlCol="0" anchor="ctr"/>
          <a:lstStyle/>
          <a:p>
            <a:pPr marL="0" indent="0">
              <a:lnSpc>
                <a:spcPts val="2000"/>
              </a:lnSpc>
              <a:buNone/>
            </a:pPr>
            <a:r>
              <a:rPr lang="en-US" sz="1200" dirty="0">
                <a:solidFill>
                  <a:srgbClr val="DFF3F1"/>
                </a:solidFill>
                <a:latin typeface="Malgun Gothic" pitchFamily="34" charset="0"/>
                <a:ea typeface="Malgun Gothic" pitchFamily="34" charset="-122"/>
                <a:cs typeface="Malgun Gothic" pitchFamily="34" charset="-120"/>
              </a:rPr>
              <a:t>기존에는 사람이 다이얼로 세기를 직접 조절해야 했지만,</a:t>
            </a:r>
            <a:endParaRPr lang="en-US" sz="1200" dirty="0"/>
          </a:p>
          <a:p>
            <a:pPr marL="0" indent="0">
              <a:lnSpc>
                <a:spcPts val="2000"/>
              </a:lnSpc>
              <a:buNone/>
            </a:pPr>
            <a:r>
              <a:rPr lang="en-US" sz="1200" dirty="0">
                <a:solidFill>
                  <a:srgbClr val="DFF3F1"/>
                </a:solidFill>
                <a:latin typeface="Malgun Gothic" pitchFamily="34" charset="0"/>
                <a:ea typeface="Malgun Gothic" pitchFamily="34" charset="-122"/>
                <a:cs typeface="Malgun Gothic" pitchFamily="34" charset="-120"/>
              </a:rPr>
              <a:t>적용 후에는 시작·정지와 자극 세기까지 컴퓨터가 실시간으로 제어합니다.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03  하드웨어 제작</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openEMSstim 보드를 설계 파일부터 직접 제작</a:t>
            </a:r>
            <a:endParaRPr lang="en-US" sz="3100" dirty="0"/>
          </a:p>
        </p:txBody>
      </p:sp>
      <p:sp>
        <p:nvSpPr>
          <p:cNvPr id="4" name="Shape 2"/>
          <p:cNvSpPr/>
          <p:nvPr/>
        </p:nvSpPr>
        <p:spPr>
          <a:xfrm>
            <a:off x="685800" y="1645920"/>
            <a:ext cx="3163824" cy="2157984"/>
          </a:xfrm>
          <a:prstGeom prst="roundRect">
            <a:avLst>
              <a:gd name="adj" fmla="val 4237"/>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pic>
        <p:nvPicPr>
          <p:cNvPr id="5" name="Image 0" descr="img/design.jpg"/>
          <p:cNvPicPr>
            <a:picLocks noChangeAspect="1"/>
          </p:cNvPicPr>
          <p:nvPr/>
        </p:nvPicPr>
        <p:blipFill>
          <a:blip r:embed="rId3"/>
          <a:stretch>
            <a:fillRect/>
          </a:stretch>
        </p:blipFill>
        <p:spPr>
          <a:xfrm>
            <a:off x="758952" y="1719072"/>
            <a:ext cx="3017520" cy="2011680"/>
          </a:xfrm>
          <a:prstGeom prst="rect">
            <a:avLst/>
          </a:prstGeom>
        </p:spPr>
      </p:pic>
      <p:sp>
        <p:nvSpPr>
          <p:cNvPr id="6" name="Shape 3"/>
          <p:cNvSpPr/>
          <p:nvPr/>
        </p:nvSpPr>
        <p:spPr>
          <a:xfrm>
            <a:off x="685800" y="3950208"/>
            <a:ext cx="411480" cy="274320"/>
          </a:xfrm>
          <a:prstGeom prst="roundRect">
            <a:avLst>
              <a:gd name="adj" fmla="val 20000"/>
            </a:avLst>
          </a:prstGeom>
          <a:solidFill>
            <a:srgbClr val="FF6B35"/>
          </a:solidFill>
          <a:ln w="12700">
            <a:solidFill>
              <a:srgbClr val="FF6B35"/>
            </a:solidFill>
            <a:prstDash val="solid"/>
          </a:ln>
        </p:spPr>
        <p:txBody>
          <a:bodyPr/>
          <a:lstStyle/>
          <a:p>
            <a:endParaRPr lang="ko-KR" altLang="en-US"/>
          </a:p>
        </p:txBody>
      </p:sp>
      <p:sp>
        <p:nvSpPr>
          <p:cNvPr id="7" name="Text 4"/>
          <p:cNvSpPr txBox="1"/>
          <p:nvPr/>
        </p:nvSpPr>
        <p:spPr>
          <a:xfrm>
            <a:off x="685800" y="3968496"/>
            <a:ext cx="41148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01</a:t>
            </a:r>
            <a:endParaRPr lang="en-US" sz="1100" dirty="0"/>
          </a:p>
        </p:txBody>
      </p:sp>
      <p:sp>
        <p:nvSpPr>
          <p:cNvPr id="8" name="Text 5"/>
          <p:cNvSpPr txBox="1"/>
          <p:nvPr/>
        </p:nvSpPr>
        <p:spPr>
          <a:xfrm>
            <a:off x="1216152" y="3931920"/>
            <a:ext cx="2633472" cy="292608"/>
          </a:xfrm>
          <a:prstGeom prst="rect">
            <a:avLst/>
          </a:prstGeom>
          <a:noFill/>
          <a:ln/>
        </p:spPr>
        <p:txBody>
          <a:bodyPr wrap="square" lIns="0" tIns="0" rIns="0" bIns="0" rtlCol="0" anchor="ctr"/>
          <a:lstStyle/>
          <a:p>
            <a:pPr marL="0" indent="0">
              <a:buNone/>
            </a:pPr>
            <a:r>
              <a:rPr lang="en-US" sz="1450" b="1" dirty="0">
                <a:solidFill>
                  <a:srgbClr val="0F2126"/>
                </a:solidFill>
                <a:latin typeface="Malgun Gothic" pitchFamily="34" charset="0"/>
                <a:ea typeface="Malgun Gothic" pitchFamily="34" charset="-122"/>
                <a:cs typeface="Malgun Gothic" pitchFamily="34" charset="-120"/>
              </a:rPr>
              <a:t>설계 파일 준비</a:t>
            </a:r>
            <a:endParaRPr lang="en-US" sz="1450" dirty="0"/>
          </a:p>
        </p:txBody>
      </p:sp>
      <p:sp>
        <p:nvSpPr>
          <p:cNvPr id="9" name="Text 6"/>
          <p:cNvSpPr txBox="1"/>
          <p:nvPr/>
        </p:nvSpPr>
        <p:spPr>
          <a:xfrm>
            <a:off x="685800" y="4334256"/>
            <a:ext cx="3163824" cy="603504"/>
          </a:xfrm>
          <a:prstGeom prst="rect">
            <a:avLst/>
          </a:prstGeom>
          <a:noFill/>
          <a:ln/>
        </p:spPr>
        <p:txBody>
          <a:bodyPr wrap="square" lIns="0" tIns="0" rIns="0" bIns="0" rtlCol="0" anchor="ctr"/>
          <a:lstStyle/>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openEMSstim 오픈소스 회로도와</a:t>
            </a:r>
            <a:endParaRPr lang="en-US" sz="1150" dirty="0"/>
          </a:p>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거버 파일을 제작용 도면으로 정리</a:t>
            </a:r>
            <a:endParaRPr lang="en-US" sz="1150" dirty="0"/>
          </a:p>
        </p:txBody>
      </p:sp>
      <p:sp>
        <p:nvSpPr>
          <p:cNvPr id="10" name="Shape 7"/>
          <p:cNvSpPr/>
          <p:nvPr/>
        </p:nvSpPr>
        <p:spPr>
          <a:xfrm>
            <a:off x="4498848" y="1645920"/>
            <a:ext cx="3163824" cy="2157984"/>
          </a:xfrm>
          <a:prstGeom prst="roundRect">
            <a:avLst>
              <a:gd name="adj" fmla="val 4237"/>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pic>
        <p:nvPicPr>
          <p:cNvPr id="11" name="Image 1" descr="img/pcb.jpg"/>
          <p:cNvPicPr>
            <a:picLocks noChangeAspect="1"/>
          </p:cNvPicPr>
          <p:nvPr/>
        </p:nvPicPr>
        <p:blipFill>
          <a:blip r:embed="rId4"/>
          <a:stretch>
            <a:fillRect/>
          </a:stretch>
        </p:blipFill>
        <p:spPr>
          <a:xfrm>
            <a:off x="4572000" y="1719072"/>
            <a:ext cx="3017520" cy="2011680"/>
          </a:xfrm>
          <a:prstGeom prst="rect">
            <a:avLst/>
          </a:prstGeom>
        </p:spPr>
      </p:pic>
      <p:sp>
        <p:nvSpPr>
          <p:cNvPr id="12" name="Shape 8"/>
          <p:cNvSpPr/>
          <p:nvPr/>
        </p:nvSpPr>
        <p:spPr>
          <a:xfrm>
            <a:off x="4498848" y="3950208"/>
            <a:ext cx="411480" cy="274320"/>
          </a:xfrm>
          <a:prstGeom prst="roundRect">
            <a:avLst>
              <a:gd name="adj" fmla="val 20000"/>
            </a:avLst>
          </a:prstGeom>
          <a:solidFill>
            <a:srgbClr val="FF6B35"/>
          </a:solidFill>
          <a:ln w="12700">
            <a:solidFill>
              <a:srgbClr val="FF6B35"/>
            </a:solidFill>
            <a:prstDash val="solid"/>
          </a:ln>
        </p:spPr>
        <p:txBody>
          <a:bodyPr/>
          <a:lstStyle/>
          <a:p>
            <a:endParaRPr lang="ko-KR" altLang="en-US"/>
          </a:p>
        </p:txBody>
      </p:sp>
      <p:sp>
        <p:nvSpPr>
          <p:cNvPr id="13" name="Text 9"/>
          <p:cNvSpPr txBox="1"/>
          <p:nvPr/>
        </p:nvSpPr>
        <p:spPr>
          <a:xfrm>
            <a:off x="4498848" y="3968496"/>
            <a:ext cx="41148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02</a:t>
            </a:r>
            <a:endParaRPr lang="en-US" sz="1100" dirty="0"/>
          </a:p>
        </p:txBody>
      </p:sp>
      <p:sp>
        <p:nvSpPr>
          <p:cNvPr id="14" name="Text 10"/>
          <p:cNvSpPr txBox="1"/>
          <p:nvPr/>
        </p:nvSpPr>
        <p:spPr>
          <a:xfrm>
            <a:off x="5029200" y="3931920"/>
            <a:ext cx="2633472" cy="292608"/>
          </a:xfrm>
          <a:prstGeom prst="rect">
            <a:avLst/>
          </a:prstGeom>
          <a:noFill/>
          <a:ln/>
        </p:spPr>
        <p:txBody>
          <a:bodyPr wrap="square" lIns="0" tIns="0" rIns="0" bIns="0" rtlCol="0" anchor="ctr"/>
          <a:lstStyle/>
          <a:p>
            <a:pPr marL="0" indent="0">
              <a:buNone/>
            </a:pPr>
            <a:r>
              <a:rPr lang="en-US" sz="1450" b="1" dirty="0">
                <a:solidFill>
                  <a:srgbClr val="0F2126"/>
                </a:solidFill>
                <a:latin typeface="Malgun Gothic" pitchFamily="34" charset="0"/>
                <a:ea typeface="Malgun Gothic" pitchFamily="34" charset="-122"/>
                <a:cs typeface="Malgun Gothic" pitchFamily="34" charset="-120"/>
              </a:rPr>
              <a:t>해외 업체에 PCB 제작 의뢰</a:t>
            </a:r>
            <a:endParaRPr lang="en-US" sz="1450" dirty="0"/>
          </a:p>
        </p:txBody>
      </p:sp>
      <p:sp>
        <p:nvSpPr>
          <p:cNvPr id="15" name="Text 11"/>
          <p:cNvSpPr txBox="1"/>
          <p:nvPr/>
        </p:nvSpPr>
        <p:spPr>
          <a:xfrm>
            <a:off x="4498848" y="4334256"/>
            <a:ext cx="3163824" cy="603504"/>
          </a:xfrm>
          <a:prstGeom prst="rect">
            <a:avLst/>
          </a:prstGeom>
          <a:noFill/>
          <a:ln/>
        </p:spPr>
        <p:txBody>
          <a:bodyPr wrap="square" lIns="0" tIns="0" rIns="0" bIns="0" rtlCol="0" anchor="ctr"/>
          <a:lstStyle/>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완제품을 구할 방법이 없어</a:t>
            </a:r>
            <a:endParaRPr lang="en-US" sz="1150" dirty="0"/>
          </a:p>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해외 업체에 기판 제작을 의뢰</a:t>
            </a:r>
            <a:endParaRPr lang="en-US" sz="1150" dirty="0"/>
          </a:p>
        </p:txBody>
      </p:sp>
      <p:sp>
        <p:nvSpPr>
          <p:cNvPr id="16" name="Shape 12"/>
          <p:cNvSpPr/>
          <p:nvPr/>
        </p:nvSpPr>
        <p:spPr>
          <a:xfrm>
            <a:off x="8311896" y="1645920"/>
            <a:ext cx="3163824" cy="2157984"/>
          </a:xfrm>
          <a:prstGeom prst="roundRect">
            <a:avLst>
              <a:gd name="adj" fmla="val 4237"/>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pic>
        <p:nvPicPr>
          <p:cNvPr id="17" name="Image 2" descr="img/orders.jpg"/>
          <p:cNvPicPr>
            <a:picLocks noChangeAspect="1"/>
          </p:cNvPicPr>
          <p:nvPr/>
        </p:nvPicPr>
        <p:blipFill>
          <a:blip r:embed="rId5"/>
          <a:stretch>
            <a:fillRect/>
          </a:stretch>
        </p:blipFill>
        <p:spPr>
          <a:xfrm>
            <a:off x="8385048" y="1719072"/>
            <a:ext cx="3017520" cy="2011680"/>
          </a:xfrm>
          <a:prstGeom prst="rect">
            <a:avLst/>
          </a:prstGeom>
        </p:spPr>
      </p:pic>
      <p:sp>
        <p:nvSpPr>
          <p:cNvPr id="18" name="Shape 13"/>
          <p:cNvSpPr/>
          <p:nvPr/>
        </p:nvSpPr>
        <p:spPr>
          <a:xfrm>
            <a:off x="8311896" y="3950208"/>
            <a:ext cx="411480" cy="274320"/>
          </a:xfrm>
          <a:prstGeom prst="roundRect">
            <a:avLst>
              <a:gd name="adj" fmla="val 20000"/>
            </a:avLst>
          </a:prstGeom>
          <a:solidFill>
            <a:srgbClr val="FF6B35"/>
          </a:solidFill>
          <a:ln w="12700">
            <a:solidFill>
              <a:srgbClr val="FF6B35"/>
            </a:solidFill>
            <a:prstDash val="solid"/>
          </a:ln>
        </p:spPr>
        <p:txBody>
          <a:bodyPr/>
          <a:lstStyle/>
          <a:p>
            <a:endParaRPr lang="ko-KR" altLang="en-US"/>
          </a:p>
        </p:txBody>
      </p:sp>
      <p:sp>
        <p:nvSpPr>
          <p:cNvPr id="19" name="Text 14"/>
          <p:cNvSpPr txBox="1"/>
          <p:nvPr/>
        </p:nvSpPr>
        <p:spPr>
          <a:xfrm>
            <a:off x="8311896" y="3968496"/>
            <a:ext cx="411480"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03</a:t>
            </a:r>
            <a:endParaRPr lang="en-US" sz="1100" dirty="0"/>
          </a:p>
        </p:txBody>
      </p:sp>
      <p:sp>
        <p:nvSpPr>
          <p:cNvPr id="20" name="Text 15"/>
          <p:cNvSpPr txBox="1"/>
          <p:nvPr/>
        </p:nvSpPr>
        <p:spPr>
          <a:xfrm>
            <a:off x="8842248" y="3931920"/>
            <a:ext cx="2633472" cy="292608"/>
          </a:xfrm>
          <a:prstGeom prst="rect">
            <a:avLst/>
          </a:prstGeom>
          <a:noFill/>
          <a:ln/>
        </p:spPr>
        <p:txBody>
          <a:bodyPr wrap="square" lIns="0" tIns="0" rIns="0" bIns="0" rtlCol="0" anchor="ctr"/>
          <a:lstStyle/>
          <a:p>
            <a:pPr marL="0" indent="0">
              <a:buNone/>
            </a:pPr>
            <a:r>
              <a:rPr lang="en-US" sz="1450" b="1" dirty="0">
                <a:solidFill>
                  <a:srgbClr val="0F2126"/>
                </a:solidFill>
                <a:latin typeface="Malgun Gothic" pitchFamily="34" charset="0"/>
                <a:ea typeface="Malgun Gothic" pitchFamily="34" charset="-122"/>
                <a:cs typeface="Malgun Gothic" pitchFamily="34" charset="-120"/>
              </a:rPr>
              <a:t>부족 부품 개별 주문</a:t>
            </a:r>
            <a:endParaRPr lang="en-US" sz="1450" dirty="0"/>
          </a:p>
        </p:txBody>
      </p:sp>
      <p:sp>
        <p:nvSpPr>
          <p:cNvPr id="21" name="Text 16"/>
          <p:cNvSpPr txBox="1"/>
          <p:nvPr/>
        </p:nvSpPr>
        <p:spPr>
          <a:xfrm>
            <a:off x="8311896" y="4334256"/>
            <a:ext cx="3163824" cy="603504"/>
          </a:xfrm>
          <a:prstGeom prst="rect">
            <a:avLst/>
          </a:prstGeom>
          <a:noFill/>
          <a:ln/>
        </p:spPr>
        <p:txBody>
          <a:bodyPr wrap="square" lIns="0" tIns="0" rIns="0" bIns="0" rtlCol="0" anchor="ctr"/>
          <a:lstStyle/>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업체에 없는 부품은 DigiKey와</a:t>
            </a:r>
            <a:endParaRPr lang="en-US" sz="1150" dirty="0"/>
          </a:p>
          <a:p>
            <a:pPr marL="0" indent="0">
              <a:lnSpc>
                <a:spcPts val="1700"/>
              </a:lnSpc>
              <a:buNone/>
            </a:pPr>
            <a:r>
              <a:rPr lang="en-US" sz="1150" dirty="0">
                <a:solidFill>
                  <a:srgbClr val="56686D"/>
                </a:solidFill>
                <a:latin typeface="Malgun Gothic" pitchFamily="34" charset="0"/>
                <a:ea typeface="Malgun Gothic" pitchFamily="34" charset="-122"/>
                <a:cs typeface="Malgun Gothic" pitchFamily="34" charset="-120"/>
              </a:rPr>
              <a:t>AliExpress에서 따로 주문</a:t>
            </a:r>
            <a:endParaRPr lang="en-US" sz="1150" dirty="0"/>
          </a:p>
        </p:txBody>
      </p:sp>
      <p:sp>
        <p:nvSpPr>
          <p:cNvPr id="22" name="Shape 17"/>
          <p:cNvSpPr/>
          <p:nvPr/>
        </p:nvSpPr>
        <p:spPr>
          <a:xfrm>
            <a:off x="685800" y="5138928"/>
            <a:ext cx="10789920" cy="1234440"/>
          </a:xfrm>
          <a:prstGeom prst="roundRect">
            <a:avLst>
              <a:gd name="adj" fmla="val 9630"/>
            </a:avLst>
          </a:prstGeom>
          <a:solidFill>
            <a:srgbClr val="062A33"/>
          </a:solidFill>
          <a:ln w="12700">
            <a:solidFill>
              <a:srgbClr val="062A33"/>
            </a:solidFill>
            <a:prstDash val="solid"/>
          </a:ln>
        </p:spPr>
        <p:txBody>
          <a:bodyPr/>
          <a:lstStyle/>
          <a:p>
            <a:endParaRPr lang="ko-KR" altLang="en-US"/>
          </a:p>
        </p:txBody>
      </p:sp>
      <p:sp>
        <p:nvSpPr>
          <p:cNvPr id="23" name="Text 18"/>
          <p:cNvSpPr txBox="1"/>
          <p:nvPr/>
        </p:nvSpPr>
        <p:spPr>
          <a:xfrm>
            <a:off x="1005840" y="5358384"/>
            <a:ext cx="3840480" cy="292608"/>
          </a:xfrm>
          <a:prstGeom prst="rect">
            <a:avLst/>
          </a:prstGeom>
          <a:noFill/>
          <a:ln/>
        </p:spPr>
        <p:txBody>
          <a:bodyPr wrap="square" lIns="0" tIns="0" rIns="0" bIns="0" rtlCol="0" anchor="ctr"/>
          <a:lstStyle/>
          <a:p>
            <a:pPr marL="0" indent="0">
              <a:buNone/>
            </a:pPr>
            <a:r>
              <a:rPr lang="en-US" sz="1450" b="1" dirty="0">
                <a:solidFill>
                  <a:srgbClr val="00B99B"/>
                </a:solidFill>
                <a:latin typeface="Malgun Gothic" pitchFamily="34" charset="0"/>
                <a:ea typeface="Malgun Gothic" pitchFamily="34" charset="-122"/>
                <a:cs typeface="Malgun Gothic" pitchFamily="34" charset="-120"/>
              </a:rPr>
              <a:t>→  직접 납땜해 실장 완료</a:t>
            </a:r>
            <a:endParaRPr lang="en-US" sz="1450" dirty="0"/>
          </a:p>
        </p:txBody>
      </p:sp>
      <p:sp>
        <p:nvSpPr>
          <p:cNvPr id="24" name="Text 19"/>
          <p:cNvSpPr txBox="1"/>
          <p:nvPr/>
        </p:nvSpPr>
        <p:spPr>
          <a:xfrm>
            <a:off x="1005840" y="5742432"/>
            <a:ext cx="7589520" cy="384048"/>
          </a:xfrm>
          <a:prstGeom prst="rect">
            <a:avLst/>
          </a:prstGeom>
          <a:noFill/>
          <a:ln/>
        </p:spPr>
        <p:txBody>
          <a:bodyPr wrap="square" lIns="0" tIns="0" rIns="0" bIns="0" rtlCol="0" anchor="ctr"/>
          <a:lstStyle/>
          <a:p>
            <a:pPr marL="0" indent="0">
              <a:buNone/>
            </a:pPr>
            <a:r>
              <a:rPr lang="en-US" sz="1150" dirty="0">
                <a:solidFill>
                  <a:srgbClr val="BFE0E4"/>
                </a:solidFill>
                <a:latin typeface="Malgun Gothic" pitchFamily="34" charset="0"/>
                <a:ea typeface="Malgun Gothic" pitchFamily="34" charset="-122"/>
                <a:cs typeface="Malgun Gothic" pitchFamily="34" charset="-120"/>
              </a:rPr>
              <a:t>STD25NF20 MOSFET · VOM1271T 포토커플러 · 0805 저항/커패시터 · 0603 LED · 2.54mm 핀헤더 · 리본 케이블</a:t>
            </a:r>
            <a:endParaRPr lang="en-US" sz="1150" dirty="0"/>
          </a:p>
        </p:txBody>
      </p:sp>
      <p:pic>
        <p:nvPicPr>
          <p:cNvPr id="25" name="Image 3" descr="img/board.jpg"/>
          <p:cNvPicPr>
            <a:picLocks noChangeAspect="1"/>
          </p:cNvPicPr>
          <p:nvPr/>
        </p:nvPicPr>
        <p:blipFill>
          <a:blip r:embed="rId6"/>
          <a:stretch>
            <a:fillRect/>
          </a:stretch>
        </p:blipFill>
        <p:spPr>
          <a:xfrm>
            <a:off x="8915400" y="5294376"/>
            <a:ext cx="2240280" cy="10424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04  핵심 기능 ①</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비전 기반 폐루프 동작 재현</a:t>
            </a:r>
            <a:endParaRPr lang="en-US" sz="3100" dirty="0"/>
          </a:p>
        </p:txBody>
      </p:sp>
      <p:sp>
        <p:nvSpPr>
          <p:cNvPr id="4" name="Shape 2"/>
          <p:cNvSpPr/>
          <p:nvPr/>
        </p:nvSpPr>
        <p:spPr>
          <a:xfrm>
            <a:off x="685800" y="1783080"/>
            <a:ext cx="2743200" cy="1188720"/>
          </a:xfrm>
          <a:prstGeom prst="roundRect">
            <a:avLst>
              <a:gd name="adj" fmla="val 10000"/>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5" name="Shape 3"/>
          <p:cNvSpPr/>
          <p:nvPr/>
        </p:nvSpPr>
        <p:spPr>
          <a:xfrm>
            <a:off x="886968" y="2112264"/>
            <a:ext cx="530352" cy="530352"/>
          </a:xfrm>
          <a:prstGeom prst="ellipse">
            <a:avLst/>
          </a:prstGeom>
          <a:solidFill>
            <a:srgbClr val="028090"/>
          </a:solidFill>
          <a:ln w="12700">
            <a:solidFill>
              <a:srgbClr val="028090"/>
            </a:solidFill>
            <a:prstDash val="solid"/>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1040770" y="2266066"/>
            <a:ext cx="222748" cy="222748"/>
          </a:xfrm>
          <a:prstGeom prst="rect">
            <a:avLst/>
          </a:prstGeom>
        </p:spPr>
      </p:pic>
      <p:sp>
        <p:nvSpPr>
          <p:cNvPr id="7" name="Text 4"/>
          <p:cNvSpPr txBox="1"/>
          <p:nvPr/>
        </p:nvSpPr>
        <p:spPr>
          <a:xfrm>
            <a:off x="1527048" y="1929384"/>
            <a:ext cx="1828800" cy="274320"/>
          </a:xfrm>
          <a:prstGeom prst="rect">
            <a:avLst/>
          </a:prstGeom>
          <a:noFill/>
          <a:ln/>
        </p:spPr>
        <p:txBody>
          <a:bodyPr wrap="square" lIns="0" tIns="0" rIns="0" bIns="0" rtlCol="0" anchor="ctr"/>
          <a:lstStyle/>
          <a:p>
            <a:pPr marL="0" indent="0">
              <a:buNone/>
            </a:pPr>
            <a:r>
              <a:rPr lang="en-US" sz="1400" b="1" dirty="0">
                <a:solidFill>
                  <a:srgbClr val="0F2126"/>
                </a:solidFill>
                <a:latin typeface="Malgun Gothic" pitchFamily="34" charset="0"/>
                <a:ea typeface="Malgun Gothic" pitchFamily="34" charset="-122"/>
                <a:cs typeface="Malgun Gothic" pitchFamily="34" charset="-120"/>
              </a:rPr>
              <a:t>정상 손 촬영</a:t>
            </a:r>
            <a:endParaRPr lang="en-US" sz="1400" dirty="0"/>
          </a:p>
        </p:txBody>
      </p:sp>
      <p:sp>
        <p:nvSpPr>
          <p:cNvPr id="8" name="Text 5"/>
          <p:cNvSpPr txBox="1"/>
          <p:nvPr/>
        </p:nvSpPr>
        <p:spPr>
          <a:xfrm>
            <a:off x="1527048" y="2240280"/>
            <a:ext cx="1828800" cy="603504"/>
          </a:xfrm>
          <a:prstGeom prst="rect">
            <a:avLst/>
          </a:prstGeom>
          <a:noFill/>
          <a:ln/>
        </p:spPr>
        <p:txBody>
          <a:bodyPr wrap="square" lIns="0" tIns="0" rIns="0" bIns="0" rtlCol="0" anchor="ctr"/>
          <a:lstStyle/>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손의 굽힘 정도를 측정해</a:t>
            </a:r>
            <a:endParaRPr lang="en-US" sz="1050" dirty="0"/>
          </a:p>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목표값으로 설정</a:t>
            </a:r>
            <a:endParaRPr lang="en-US" sz="1050" dirty="0"/>
          </a:p>
        </p:txBody>
      </p:sp>
      <p:sp>
        <p:nvSpPr>
          <p:cNvPr id="9" name="Shape 6"/>
          <p:cNvSpPr/>
          <p:nvPr/>
        </p:nvSpPr>
        <p:spPr>
          <a:xfrm>
            <a:off x="5074920" y="1783080"/>
            <a:ext cx="2743200" cy="1188720"/>
          </a:xfrm>
          <a:prstGeom prst="roundRect">
            <a:avLst>
              <a:gd name="adj" fmla="val 10000"/>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0" name="Shape 7"/>
          <p:cNvSpPr/>
          <p:nvPr/>
        </p:nvSpPr>
        <p:spPr>
          <a:xfrm>
            <a:off x="5276088" y="2112264"/>
            <a:ext cx="530352" cy="530352"/>
          </a:xfrm>
          <a:prstGeom prst="ellipse">
            <a:avLst/>
          </a:prstGeom>
          <a:solidFill>
            <a:srgbClr val="FF6B35"/>
          </a:solidFill>
          <a:ln w="12700">
            <a:solidFill>
              <a:srgbClr val="FF6B35"/>
            </a:solidFill>
            <a:prstDash val="solid"/>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5429890" y="2266066"/>
            <a:ext cx="222748" cy="222748"/>
          </a:xfrm>
          <a:prstGeom prst="rect">
            <a:avLst/>
          </a:prstGeom>
        </p:spPr>
      </p:pic>
      <p:sp>
        <p:nvSpPr>
          <p:cNvPr id="12" name="Text 8"/>
          <p:cNvSpPr txBox="1"/>
          <p:nvPr/>
        </p:nvSpPr>
        <p:spPr>
          <a:xfrm>
            <a:off x="5916168" y="1929384"/>
            <a:ext cx="1828800" cy="274320"/>
          </a:xfrm>
          <a:prstGeom prst="rect">
            <a:avLst/>
          </a:prstGeom>
          <a:noFill/>
          <a:ln/>
        </p:spPr>
        <p:txBody>
          <a:bodyPr wrap="square" lIns="0" tIns="0" rIns="0" bIns="0" rtlCol="0" anchor="ctr"/>
          <a:lstStyle/>
          <a:p>
            <a:pPr marL="0" indent="0">
              <a:buNone/>
            </a:pPr>
            <a:r>
              <a:rPr lang="en-US" sz="1400" b="1" dirty="0">
                <a:solidFill>
                  <a:srgbClr val="0F2126"/>
                </a:solidFill>
                <a:latin typeface="Malgun Gothic" pitchFamily="34" charset="0"/>
                <a:ea typeface="Malgun Gothic" pitchFamily="34" charset="-122"/>
                <a:cs typeface="Malgun Gothic" pitchFamily="34" charset="-120"/>
              </a:rPr>
              <a:t>EMS 자극 출력</a:t>
            </a:r>
            <a:endParaRPr lang="en-US" sz="1400" dirty="0"/>
          </a:p>
        </p:txBody>
      </p:sp>
      <p:sp>
        <p:nvSpPr>
          <p:cNvPr id="13" name="Text 9"/>
          <p:cNvSpPr txBox="1"/>
          <p:nvPr/>
        </p:nvSpPr>
        <p:spPr>
          <a:xfrm>
            <a:off x="5916168" y="2240280"/>
            <a:ext cx="1828800" cy="603504"/>
          </a:xfrm>
          <a:prstGeom prst="rect">
            <a:avLst/>
          </a:prstGeom>
          <a:noFill/>
          <a:ln/>
        </p:spPr>
        <p:txBody>
          <a:bodyPr wrap="square" lIns="0" tIns="0" rIns="0" bIns="0" rtlCol="0" anchor="ctr"/>
          <a:lstStyle/>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반대쪽 팔 근육에</a:t>
            </a:r>
            <a:endParaRPr lang="en-US" sz="1050" dirty="0"/>
          </a:p>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전기자극 전달</a:t>
            </a:r>
            <a:endParaRPr lang="en-US" sz="1050" dirty="0"/>
          </a:p>
        </p:txBody>
      </p:sp>
      <p:sp>
        <p:nvSpPr>
          <p:cNvPr id="14" name="Shape 10"/>
          <p:cNvSpPr/>
          <p:nvPr/>
        </p:nvSpPr>
        <p:spPr>
          <a:xfrm>
            <a:off x="5074920" y="4160520"/>
            <a:ext cx="2743200" cy="1188720"/>
          </a:xfrm>
          <a:prstGeom prst="roundRect">
            <a:avLst>
              <a:gd name="adj" fmla="val 10000"/>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5" name="Shape 11"/>
          <p:cNvSpPr/>
          <p:nvPr/>
        </p:nvSpPr>
        <p:spPr>
          <a:xfrm>
            <a:off x="5276088" y="4489704"/>
            <a:ext cx="530352" cy="530352"/>
          </a:xfrm>
          <a:prstGeom prst="ellipse">
            <a:avLst/>
          </a:prstGeom>
          <a:solidFill>
            <a:srgbClr val="028090"/>
          </a:solidFill>
          <a:ln w="12700">
            <a:solidFill>
              <a:srgbClr val="028090"/>
            </a:solidFill>
            <a:prstDash val="solid"/>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5429890" y="4643506"/>
            <a:ext cx="222748" cy="222748"/>
          </a:xfrm>
          <a:prstGeom prst="rect">
            <a:avLst/>
          </a:prstGeom>
        </p:spPr>
      </p:pic>
      <p:sp>
        <p:nvSpPr>
          <p:cNvPr id="17" name="Text 12"/>
          <p:cNvSpPr txBox="1"/>
          <p:nvPr/>
        </p:nvSpPr>
        <p:spPr>
          <a:xfrm>
            <a:off x="5916168" y="4306824"/>
            <a:ext cx="1828800" cy="274320"/>
          </a:xfrm>
          <a:prstGeom prst="rect">
            <a:avLst/>
          </a:prstGeom>
          <a:noFill/>
          <a:ln/>
        </p:spPr>
        <p:txBody>
          <a:bodyPr wrap="square" lIns="0" tIns="0" rIns="0" bIns="0" rtlCol="0" anchor="ctr"/>
          <a:lstStyle/>
          <a:p>
            <a:pPr marL="0" indent="0">
              <a:buNone/>
            </a:pPr>
            <a:r>
              <a:rPr lang="en-US" sz="1400" b="1" dirty="0">
                <a:solidFill>
                  <a:srgbClr val="0F2126"/>
                </a:solidFill>
                <a:latin typeface="Malgun Gothic" pitchFamily="34" charset="0"/>
                <a:ea typeface="Malgun Gothic" pitchFamily="34" charset="-122"/>
                <a:cs typeface="Malgun Gothic" pitchFamily="34" charset="-120"/>
              </a:rPr>
              <a:t>마비 손 촬영</a:t>
            </a:r>
            <a:endParaRPr lang="en-US" sz="1400" dirty="0"/>
          </a:p>
        </p:txBody>
      </p:sp>
      <p:sp>
        <p:nvSpPr>
          <p:cNvPr id="18" name="Text 13"/>
          <p:cNvSpPr txBox="1"/>
          <p:nvPr/>
        </p:nvSpPr>
        <p:spPr>
          <a:xfrm>
            <a:off x="5916168" y="4617720"/>
            <a:ext cx="1828800" cy="603504"/>
          </a:xfrm>
          <a:prstGeom prst="rect">
            <a:avLst/>
          </a:prstGeom>
          <a:noFill/>
          <a:ln/>
        </p:spPr>
        <p:txBody>
          <a:bodyPr wrap="square" lIns="0" tIns="0" rIns="0" bIns="0" rtlCol="0" anchor="ctr"/>
          <a:lstStyle/>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실제로 움직인 정도를</a:t>
            </a:r>
            <a:endParaRPr lang="en-US" sz="1050" dirty="0"/>
          </a:p>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다시 측정</a:t>
            </a:r>
            <a:endParaRPr lang="en-US" sz="1050" dirty="0"/>
          </a:p>
        </p:txBody>
      </p:sp>
      <p:sp>
        <p:nvSpPr>
          <p:cNvPr id="19" name="Shape 14"/>
          <p:cNvSpPr/>
          <p:nvPr/>
        </p:nvSpPr>
        <p:spPr>
          <a:xfrm>
            <a:off x="685800" y="4160520"/>
            <a:ext cx="2743200" cy="1188720"/>
          </a:xfrm>
          <a:prstGeom prst="roundRect">
            <a:avLst>
              <a:gd name="adj" fmla="val 10000"/>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20" name="Shape 15"/>
          <p:cNvSpPr/>
          <p:nvPr/>
        </p:nvSpPr>
        <p:spPr>
          <a:xfrm>
            <a:off x="886968" y="4489704"/>
            <a:ext cx="530352" cy="530352"/>
          </a:xfrm>
          <a:prstGeom prst="ellipse">
            <a:avLst/>
          </a:prstGeom>
          <a:solidFill>
            <a:srgbClr val="0C4450"/>
          </a:solidFill>
          <a:ln w="12700">
            <a:solidFill>
              <a:srgbClr val="0C4450"/>
            </a:solidFill>
            <a:prstDash val="solid"/>
          </a:ln>
        </p:spPr>
        <p:txBody>
          <a:bodyPr/>
          <a:lstStyle/>
          <a:p>
            <a:endParaRPr lang="ko-KR" altLang="en-US"/>
          </a:p>
        </p:txBody>
      </p:sp>
      <p:pic>
        <p:nvPicPr>
          <p:cNvPr id="21" name="Image 3" descr="preencoded.png"/>
          <p:cNvPicPr>
            <a:picLocks noChangeAspect="1"/>
          </p:cNvPicPr>
          <p:nvPr/>
        </p:nvPicPr>
        <p:blipFill>
          <a:blip r:embed="rId6"/>
          <a:stretch>
            <a:fillRect/>
          </a:stretch>
        </p:blipFill>
        <p:spPr>
          <a:xfrm>
            <a:off x="1040770" y="4643506"/>
            <a:ext cx="222748" cy="222748"/>
          </a:xfrm>
          <a:prstGeom prst="rect">
            <a:avLst/>
          </a:prstGeom>
        </p:spPr>
      </p:pic>
      <p:sp>
        <p:nvSpPr>
          <p:cNvPr id="22" name="Text 16"/>
          <p:cNvSpPr txBox="1"/>
          <p:nvPr/>
        </p:nvSpPr>
        <p:spPr>
          <a:xfrm>
            <a:off x="1527048" y="4306824"/>
            <a:ext cx="1828800" cy="274320"/>
          </a:xfrm>
          <a:prstGeom prst="rect">
            <a:avLst/>
          </a:prstGeom>
          <a:noFill/>
          <a:ln/>
        </p:spPr>
        <p:txBody>
          <a:bodyPr wrap="square" lIns="0" tIns="0" rIns="0" bIns="0" rtlCol="0" anchor="ctr"/>
          <a:lstStyle/>
          <a:p>
            <a:pPr marL="0" indent="0">
              <a:buNone/>
            </a:pPr>
            <a:r>
              <a:rPr lang="en-US" sz="1400" b="1" dirty="0">
                <a:solidFill>
                  <a:srgbClr val="0F2126"/>
                </a:solidFill>
                <a:latin typeface="Malgun Gothic" pitchFamily="34" charset="0"/>
                <a:ea typeface="Malgun Gothic" pitchFamily="34" charset="-122"/>
                <a:cs typeface="Malgun Gothic" pitchFamily="34" charset="-120"/>
              </a:rPr>
              <a:t>오차 계산·보정</a:t>
            </a:r>
            <a:endParaRPr lang="en-US" sz="1400" dirty="0"/>
          </a:p>
        </p:txBody>
      </p:sp>
      <p:sp>
        <p:nvSpPr>
          <p:cNvPr id="23" name="Text 17"/>
          <p:cNvSpPr txBox="1"/>
          <p:nvPr/>
        </p:nvSpPr>
        <p:spPr>
          <a:xfrm>
            <a:off x="1527048" y="4617720"/>
            <a:ext cx="1828800" cy="603504"/>
          </a:xfrm>
          <a:prstGeom prst="rect">
            <a:avLst/>
          </a:prstGeom>
          <a:noFill/>
          <a:ln/>
        </p:spPr>
        <p:txBody>
          <a:bodyPr wrap="square" lIns="0" tIns="0" rIns="0" bIns="0" rtlCol="0" anchor="ctr"/>
          <a:lstStyle/>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목표값과 실제값 차이로</a:t>
            </a:r>
            <a:endParaRPr lang="en-US" sz="1050" dirty="0"/>
          </a:p>
          <a:p>
            <a:pPr marL="0" indent="0">
              <a:lnSpc>
                <a:spcPts val="1500"/>
              </a:lnSpc>
              <a:buNone/>
            </a:pPr>
            <a:r>
              <a:rPr lang="en-US" sz="1050" dirty="0">
                <a:solidFill>
                  <a:srgbClr val="56686D"/>
                </a:solidFill>
                <a:latin typeface="Malgun Gothic" pitchFamily="34" charset="0"/>
                <a:ea typeface="Malgun Gothic" pitchFamily="34" charset="-122"/>
                <a:cs typeface="Malgun Gothic" pitchFamily="34" charset="-120"/>
              </a:rPr>
              <a:t>자극 세기 재조정</a:t>
            </a:r>
            <a:endParaRPr lang="en-US" sz="1050" dirty="0"/>
          </a:p>
        </p:txBody>
      </p:sp>
      <p:sp>
        <p:nvSpPr>
          <p:cNvPr id="24" name="Shape 18"/>
          <p:cNvSpPr/>
          <p:nvPr/>
        </p:nvSpPr>
        <p:spPr>
          <a:xfrm>
            <a:off x="3639312" y="2212848"/>
            <a:ext cx="1234440" cy="347472"/>
          </a:xfrm>
          <a:prstGeom prst="rightArrow">
            <a:avLst/>
          </a:prstGeom>
          <a:solidFill>
            <a:srgbClr val="00B99B"/>
          </a:solidFill>
          <a:ln w="12700">
            <a:solidFill>
              <a:srgbClr val="00B99B"/>
            </a:solidFill>
            <a:prstDash val="solid"/>
          </a:ln>
        </p:spPr>
        <p:txBody>
          <a:bodyPr/>
          <a:lstStyle/>
          <a:p>
            <a:endParaRPr lang="ko-KR" altLang="en-US"/>
          </a:p>
        </p:txBody>
      </p:sp>
      <p:sp>
        <p:nvSpPr>
          <p:cNvPr id="25" name="Shape 19"/>
          <p:cNvSpPr/>
          <p:nvPr/>
        </p:nvSpPr>
        <p:spPr>
          <a:xfrm>
            <a:off x="6245352" y="3127248"/>
            <a:ext cx="347472" cy="822960"/>
          </a:xfrm>
          <a:prstGeom prst="downArrow">
            <a:avLst/>
          </a:prstGeom>
          <a:solidFill>
            <a:srgbClr val="00B99B"/>
          </a:solidFill>
          <a:ln w="12700">
            <a:solidFill>
              <a:srgbClr val="00B99B"/>
            </a:solidFill>
            <a:prstDash val="solid"/>
          </a:ln>
        </p:spPr>
        <p:txBody>
          <a:bodyPr/>
          <a:lstStyle/>
          <a:p>
            <a:endParaRPr lang="ko-KR" altLang="en-US"/>
          </a:p>
        </p:txBody>
      </p:sp>
      <p:sp>
        <p:nvSpPr>
          <p:cNvPr id="26" name="Shape 20"/>
          <p:cNvSpPr/>
          <p:nvPr/>
        </p:nvSpPr>
        <p:spPr>
          <a:xfrm>
            <a:off x="3639312" y="4590288"/>
            <a:ext cx="1234440" cy="347472"/>
          </a:xfrm>
          <a:prstGeom prst="leftArrow">
            <a:avLst/>
          </a:prstGeom>
          <a:solidFill>
            <a:srgbClr val="00B99B"/>
          </a:solidFill>
          <a:ln w="12700">
            <a:solidFill>
              <a:srgbClr val="00B99B"/>
            </a:solidFill>
            <a:prstDash val="solid"/>
          </a:ln>
        </p:spPr>
        <p:txBody>
          <a:bodyPr/>
          <a:lstStyle/>
          <a:p>
            <a:endParaRPr lang="ko-KR" altLang="en-US"/>
          </a:p>
        </p:txBody>
      </p:sp>
      <p:sp>
        <p:nvSpPr>
          <p:cNvPr id="27" name="Shape 21"/>
          <p:cNvSpPr/>
          <p:nvPr/>
        </p:nvSpPr>
        <p:spPr>
          <a:xfrm>
            <a:off x="1883664" y="3127248"/>
            <a:ext cx="347472" cy="822960"/>
          </a:xfrm>
          <a:prstGeom prst="upArrow">
            <a:avLst/>
          </a:prstGeom>
          <a:solidFill>
            <a:srgbClr val="00B99B"/>
          </a:solidFill>
          <a:ln w="12700">
            <a:solidFill>
              <a:srgbClr val="00B99B"/>
            </a:solidFill>
            <a:prstDash val="solid"/>
          </a:ln>
        </p:spPr>
        <p:txBody>
          <a:bodyPr/>
          <a:lstStyle/>
          <a:p>
            <a:endParaRPr lang="ko-KR" altLang="en-US"/>
          </a:p>
        </p:txBody>
      </p:sp>
      <p:sp>
        <p:nvSpPr>
          <p:cNvPr id="28" name="Shape 22"/>
          <p:cNvSpPr/>
          <p:nvPr/>
        </p:nvSpPr>
        <p:spPr>
          <a:xfrm>
            <a:off x="3566160" y="3154680"/>
            <a:ext cx="1371600" cy="777240"/>
          </a:xfrm>
          <a:prstGeom prst="roundRect">
            <a:avLst>
              <a:gd name="adj" fmla="val 14118"/>
            </a:avLst>
          </a:prstGeom>
          <a:solidFill>
            <a:srgbClr val="FF6B35"/>
          </a:solidFill>
          <a:ln w="12700">
            <a:solidFill>
              <a:srgbClr val="FF6B35"/>
            </a:solidFill>
            <a:prstDash val="solid"/>
          </a:ln>
        </p:spPr>
        <p:txBody>
          <a:bodyPr/>
          <a:lstStyle/>
          <a:p>
            <a:endParaRPr lang="ko-KR" altLang="en-US"/>
          </a:p>
        </p:txBody>
      </p:sp>
      <p:sp>
        <p:nvSpPr>
          <p:cNvPr id="29" name="Text 23"/>
          <p:cNvSpPr txBox="1"/>
          <p:nvPr/>
        </p:nvSpPr>
        <p:spPr>
          <a:xfrm>
            <a:off x="3566160" y="3246120"/>
            <a:ext cx="1371600" cy="603504"/>
          </a:xfrm>
          <a:prstGeom prst="rect">
            <a:avLst/>
          </a:prstGeom>
          <a:noFill/>
          <a:ln/>
        </p:spPr>
        <p:txBody>
          <a:bodyPr wrap="square" lIns="0" tIns="0" rIns="0" bIns="0" rtlCol="0" anchor="ctr"/>
          <a:lstStyle/>
          <a:p>
            <a:pPr marL="0" indent="0" algn="ctr">
              <a:lnSpc>
                <a:spcPts val="1600"/>
              </a:lnSpc>
              <a:buNone/>
            </a:pPr>
            <a:r>
              <a:rPr lang="en-US" sz="1100" b="1" dirty="0">
                <a:solidFill>
                  <a:srgbClr val="FFFFFF"/>
                </a:solidFill>
                <a:latin typeface="Malgun Gothic" pitchFamily="34" charset="0"/>
                <a:ea typeface="Malgun Gothic" pitchFamily="34" charset="-122"/>
                <a:cs typeface="Malgun Gothic" pitchFamily="34" charset="-120"/>
              </a:rPr>
              <a:t>실시간</a:t>
            </a:r>
            <a:endParaRPr lang="en-US" sz="1100" dirty="0"/>
          </a:p>
          <a:p>
            <a:pPr marL="0" indent="0" algn="ctr">
              <a:lnSpc>
                <a:spcPts val="1600"/>
              </a:lnSpc>
              <a:buNone/>
            </a:pPr>
            <a:r>
              <a:rPr lang="en-US" sz="1100" b="1" dirty="0">
                <a:solidFill>
                  <a:srgbClr val="FFFFFF"/>
                </a:solidFill>
                <a:latin typeface="Malgun Gothic" pitchFamily="34" charset="0"/>
                <a:ea typeface="Malgun Gothic" pitchFamily="34" charset="-122"/>
                <a:cs typeface="Malgun Gothic" pitchFamily="34" charset="-120"/>
              </a:rPr>
              <a:t>폐루프 제어</a:t>
            </a:r>
            <a:endParaRPr lang="en-US" sz="1100" dirty="0"/>
          </a:p>
        </p:txBody>
      </p:sp>
      <p:sp>
        <p:nvSpPr>
          <p:cNvPr id="30" name="Shape 24"/>
          <p:cNvSpPr/>
          <p:nvPr/>
        </p:nvSpPr>
        <p:spPr>
          <a:xfrm>
            <a:off x="8275320" y="1783080"/>
            <a:ext cx="3246120" cy="3566160"/>
          </a:xfrm>
          <a:prstGeom prst="roundRect">
            <a:avLst>
              <a:gd name="adj" fmla="val 3662"/>
            </a:avLst>
          </a:prstGeom>
          <a:solidFill>
            <a:srgbClr val="062A33"/>
          </a:solidFill>
          <a:ln w="12700">
            <a:solidFill>
              <a:srgbClr val="062A33"/>
            </a:solidFill>
            <a:prstDash val="solid"/>
          </a:ln>
        </p:spPr>
        <p:txBody>
          <a:bodyPr/>
          <a:lstStyle/>
          <a:p>
            <a:endParaRPr lang="ko-KR" altLang="en-US"/>
          </a:p>
        </p:txBody>
      </p:sp>
      <p:sp>
        <p:nvSpPr>
          <p:cNvPr id="31" name="Text 25"/>
          <p:cNvSpPr txBox="1"/>
          <p:nvPr/>
        </p:nvSpPr>
        <p:spPr>
          <a:xfrm>
            <a:off x="8595360" y="2029968"/>
            <a:ext cx="2651760" cy="310896"/>
          </a:xfrm>
          <a:prstGeom prst="rect">
            <a:avLst/>
          </a:prstGeom>
          <a:noFill/>
          <a:ln/>
        </p:spPr>
        <p:txBody>
          <a:bodyPr wrap="square" lIns="0" tIns="0" rIns="0" bIns="0" rtlCol="0" anchor="ctr"/>
          <a:lstStyle/>
          <a:p>
            <a:pPr marL="0" indent="0">
              <a:buNone/>
            </a:pPr>
            <a:r>
              <a:rPr lang="en-US" sz="1600" b="1" dirty="0">
                <a:solidFill>
                  <a:srgbClr val="00B99B"/>
                </a:solidFill>
                <a:latin typeface="Malgun Gothic" pitchFamily="34" charset="0"/>
                <a:ea typeface="Malgun Gothic" pitchFamily="34" charset="-122"/>
                <a:cs typeface="Malgun Gothic" pitchFamily="34" charset="-120"/>
              </a:rPr>
              <a:t>자동 보정 규칙</a:t>
            </a:r>
            <a:endParaRPr lang="en-US" sz="1600" dirty="0"/>
          </a:p>
        </p:txBody>
      </p:sp>
      <p:sp>
        <p:nvSpPr>
          <p:cNvPr id="32" name="Shape 26"/>
          <p:cNvSpPr/>
          <p:nvPr/>
        </p:nvSpPr>
        <p:spPr>
          <a:xfrm>
            <a:off x="8595360" y="2606040"/>
            <a:ext cx="438912" cy="438912"/>
          </a:xfrm>
          <a:prstGeom prst="ellipse">
            <a:avLst/>
          </a:prstGeom>
          <a:solidFill>
            <a:srgbClr val="FF6B35"/>
          </a:solidFill>
          <a:ln w="12700">
            <a:solidFill>
              <a:srgbClr val="FF6B35"/>
            </a:solidFill>
            <a:prstDash val="solid"/>
          </a:ln>
        </p:spPr>
        <p:txBody>
          <a:bodyPr/>
          <a:lstStyle/>
          <a:p>
            <a:endParaRPr lang="ko-KR" altLang="en-US"/>
          </a:p>
        </p:txBody>
      </p:sp>
      <p:pic>
        <p:nvPicPr>
          <p:cNvPr id="33" name="Image 4" descr="preencoded.png"/>
          <p:cNvPicPr>
            <a:picLocks noChangeAspect="1"/>
          </p:cNvPicPr>
          <p:nvPr/>
        </p:nvPicPr>
        <p:blipFill>
          <a:blip r:embed="rId7"/>
          <a:stretch>
            <a:fillRect/>
          </a:stretch>
        </p:blipFill>
        <p:spPr>
          <a:xfrm>
            <a:off x="8722644" y="2733324"/>
            <a:ext cx="184343" cy="184343"/>
          </a:xfrm>
          <a:prstGeom prst="rect">
            <a:avLst/>
          </a:prstGeom>
        </p:spPr>
      </p:pic>
      <p:sp>
        <p:nvSpPr>
          <p:cNvPr id="34" name="Text 27"/>
          <p:cNvSpPr txBox="1"/>
          <p:nvPr/>
        </p:nvSpPr>
        <p:spPr>
          <a:xfrm>
            <a:off x="9189720" y="2587752"/>
            <a:ext cx="2194560" cy="256032"/>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움직임이 부족하면</a:t>
            </a:r>
            <a:endParaRPr lang="en-US" sz="1200" dirty="0"/>
          </a:p>
        </p:txBody>
      </p:sp>
      <p:sp>
        <p:nvSpPr>
          <p:cNvPr id="35" name="Text 28"/>
          <p:cNvSpPr txBox="1"/>
          <p:nvPr/>
        </p:nvSpPr>
        <p:spPr>
          <a:xfrm>
            <a:off x="9189720" y="2843784"/>
            <a:ext cx="2194560" cy="256032"/>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자극 세기를 높임</a:t>
            </a:r>
            <a:endParaRPr lang="en-US" sz="1300" dirty="0"/>
          </a:p>
        </p:txBody>
      </p:sp>
      <p:sp>
        <p:nvSpPr>
          <p:cNvPr id="36" name="Shape 29"/>
          <p:cNvSpPr/>
          <p:nvPr/>
        </p:nvSpPr>
        <p:spPr>
          <a:xfrm>
            <a:off x="8595360" y="3520440"/>
            <a:ext cx="438912" cy="438912"/>
          </a:xfrm>
          <a:prstGeom prst="ellipse">
            <a:avLst/>
          </a:prstGeom>
          <a:solidFill>
            <a:srgbClr val="028090"/>
          </a:solidFill>
          <a:ln w="12700">
            <a:solidFill>
              <a:srgbClr val="028090"/>
            </a:solidFill>
            <a:prstDash val="solid"/>
          </a:ln>
        </p:spPr>
        <p:txBody>
          <a:bodyPr/>
          <a:lstStyle/>
          <a:p>
            <a:endParaRPr lang="ko-KR" altLang="en-US"/>
          </a:p>
        </p:txBody>
      </p:sp>
      <p:pic>
        <p:nvPicPr>
          <p:cNvPr id="37" name="Image 5" descr="preencoded.png"/>
          <p:cNvPicPr>
            <a:picLocks noChangeAspect="1"/>
          </p:cNvPicPr>
          <p:nvPr/>
        </p:nvPicPr>
        <p:blipFill>
          <a:blip r:embed="rId8"/>
          <a:stretch>
            <a:fillRect/>
          </a:stretch>
        </p:blipFill>
        <p:spPr>
          <a:xfrm>
            <a:off x="8722644" y="3647724"/>
            <a:ext cx="184343" cy="184343"/>
          </a:xfrm>
          <a:prstGeom prst="rect">
            <a:avLst/>
          </a:prstGeom>
        </p:spPr>
      </p:pic>
      <p:sp>
        <p:nvSpPr>
          <p:cNvPr id="38" name="Text 30"/>
          <p:cNvSpPr txBox="1"/>
          <p:nvPr/>
        </p:nvSpPr>
        <p:spPr>
          <a:xfrm>
            <a:off x="9189720" y="3502152"/>
            <a:ext cx="2194560" cy="256032"/>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목표값에 가까워지면</a:t>
            </a:r>
            <a:endParaRPr lang="en-US" sz="1200" dirty="0"/>
          </a:p>
        </p:txBody>
      </p:sp>
      <p:sp>
        <p:nvSpPr>
          <p:cNvPr id="39" name="Text 31"/>
          <p:cNvSpPr txBox="1"/>
          <p:nvPr/>
        </p:nvSpPr>
        <p:spPr>
          <a:xfrm>
            <a:off x="9189720" y="3758184"/>
            <a:ext cx="2194560" cy="256032"/>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자극 세기를 낮춤</a:t>
            </a:r>
            <a:endParaRPr lang="en-US" sz="1300" dirty="0"/>
          </a:p>
        </p:txBody>
      </p:sp>
      <p:sp>
        <p:nvSpPr>
          <p:cNvPr id="40" name="Shape 32"/>
          <p:cNvSpPr/>
          <p:nvPr/>
        </p:nvSpPr>
        <p:spPr>
          <a:xfrm>
            <a:off x="8595360" y="4434840"/>
            <a:ext cx="438912" cy="438912"/>
          </a:xfrm>
          <a:prstGeom prst="ellipse">
            <a:avLst/>
          </a:prstGeom>
          <a:solidFill>
            <a:srgbClr val="9AA8AC"/>
          </a:solidFill>
          <a:ln w="12700">
            <a:solidFill>
              <a:srgbClr val="9AA8AC"/>
            </a:solidFill>
            <a:prstDash val="solid"/>
          </a:ln>
        </p:spPr>
        <p:txBody>
          <a:bodyPr/>
          <a:lstStyle/>
          <a:p>
            <a:endParaRPr lang="ko-KR" altLang="en-US"/>
          </a:p>
        </p:txBody>
      </p:sp>
      <p:pic>
        <p:nvPicPr>
          <p:cNvPr id="41" name="Image 6" descr="preencoded.png"/>
          <p:cNvPicPr>
            <a:picLocks noChangeAspect="1"/>
          </p:cNvPicPr>
          <p:nvPr/>
        </p:nvPicPr>
        <p:blipFill>
          <a:blip r:embed="rId9"/>
          <a:stretch>
            <a:fillRect/>
          </a:stretch>
        </p:blipFill>
        <p:spPr>
          <a:xfrm>
            <a:off x="8722644" y="4562124"/>
            <a:ext cx="184343" cy="184343"/>
          </a:xfrm>
          <a:prstGeom prst="rect">
            <a:avLst/>
          </a:prstGeom>
        </p:spPr>
      </p:pic>
      <p:sp>
        <p:nvSpPr>
          <p:cNvPr id="42" name="Text 33"/>
          <p:cNvSpPr txBox="1"/>
          <p:nvPr/>
        </p:nvSpPr>
        <p:spPr>
          <a:xfrm>
            <a:off x="9189720" y="4416552"/>
            <a:ext cx="2194560" cy="256032"/>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오차 ±5% 이내</a:t>
            </a:r>
            <a:endParaRPr lang="en-US" sz="1200" dirty="0"/>
          </a:p>
        </p:txBody>
      </p:sp>
      <p:sp>
        <p:nvSpPr>
          <p:cNvPr id="43" name="Text 34"/>
          <p:cNvSpPr txBox="1"/>
          <p:nvPr/>
        </p:nvSpPr>
        <p:spPr>
          <a:xfrm>
            <a:off x="9189720" y="4672584"/>
            <a:ext cx="2194560" cy="256032"/>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동작 완료 → 자극 차단</a:t>
            </a:r>
            <a:endParaRPr lang="en-US" sz="1300" dirty="0"/>
          </a:p>
        </p:txBody>
      </p:sp>
      <p:sp>
        <p:nvSpPr>
          <p:cNvPr id="44" name="Shape 35"/>
          <p:cNvSpPr/>
          <p:nvPr/>
        </p:nvSpPr>
        <p:spPr>
          <a:xfrm>
            <a:off x="685800" y="5623560"/>
            <a:ext cx="10835640" cy="777240"/>
          </a:xfrm>
          <a:prstGeom prst="roundRect">
            <a:avLst>
              <a:gd name="adj" fmla="val 15294"/>
            </a:avLst>
          </a:prstGeom>
          <a:solidFill>
            <a:srgbClr val="DCEBEE"/>
          </a:solidFill>
          <a:ln w="12700">
            <a:solidFill>
              <a:srgbClr val="DCEBEE"/>
            </a:solidFill>
            <a:prstDash val="solid"/>
          </a:ln>
        </p:spPr>
        <p:txBody>
          <a:bodyPr/>
          <a:lstStyle/>
          <a:p>
            <a:endParaRPr lang="ko-KR" altLang="en-US"/>
          </a:p>
        </p:txBody>
      </p:sp>
      <p:sp>
        <p:nvSpPr>
          <p:cNvPr id="45" name="Text 36"/>
          <p:cNvSpPr txBox="1"/>
          <p:nvPr/>
        </p:nvSpPr>
        <p:spPr>
          <a:xfrm>
            <a:off x="960120" y="5806440"/>
            <a:ext cx="10332720" cy="384048"/>
          </a:xfrm>
          <a:prstGeom prst="rect">
            <a:avLst/>
          </a:prstGeom>
          <a:noFill/>
          <a:ln/>
        </p:spPr>
        <p:txBody>
          <a:bodyPr wrap="square" lIns="0" tIns="0" rIns="0" bIns="0" rtlCol="0" anchor="ctr"/>
          <a:lstStyle/>
          <a:p>
            <a:pPr marL="0" indent="0">
              <a:buNone/>
            </a:pPr>
            <a:r>
              <a:rPr lang="en-US" sz="1300" b="1" dirty="0">
                <a:solidFill>
                  <a:srgbClr val="062A33"/>
                </a:solidFill>
                <a:latin typeface="Malgun Gothic" pitchFamily="34" charset="0"/>
                <a:ea typeface="Malgun Gothic" pitchFamily="34" charset="-122"/>
                <a:cs typeface="Malgun Gothic" pitchFamily="34" charset="-120"/>
              </a:rPr>
              <a:t>MediaPipe 손 관절 인식으로 굽힘 각도 측정 → 비례(P) 제어로 세기 보정 → 굴근(채널1)·신근(채널2) 2채널 방향 라우팅</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05  핵심 기능 ②</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음성 명령 기반 개인화 동작 보조</a:t>
            </a:r>
            <a:endParaRPr lang="en-US" sz="3100" dirty="0"/>
          </a:p>
        </p:txBody>
      </p:sp>
      <p:sp>
        <p:nvSpPr>
          <p:cNvPr id="4" name="Shape 2"/>
          <p:cNvSpPr/>
          <p:nvPr/>
        </p:nvSpPr>
        <p:spPr>
          <a:xfrm>
            <a:off x="685800" y="1783080"/>
            <a:ext cx="5943600" cy="1783080"/>
          </a:xfrm>
          <a:prstGeom prst="roundRect">
            <a:avLst>
              <a:gd name="adj" fmla="val 6667"/>
            </a:avLst>
          </a:prstGeom>
          <a:solidFill>
            <a:srgbClr val="EFF6F7"/>
          </a:solidFill>
          <a:ln w="12700">
            <a:solidFill>
              <a:srgbClr val="EFF6F7"/>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5" name="Shape 3"/>
          <p:cNvSpPr/>
          <p:nvPr/>
        </p:nvSpPr>
        <p:spPr>
          <a:xfrm>
            <a:off x="1051560" y="2148840"/>
            <a:ext cx="685800" cy="685800"/>
          </a:xfrm>
          <a:prstGeom prst="ellipse">
            <a:avLst/>
          </a:prstGeom>
          <a:solidFill>
            <a:srgbClr val="0C4450"/>
          </a:solidFill>
          <a:ln w="12700">
            <a:solidFill>
              <a:srgbClr val="0C4450"/>
            </a:solidFill>
            <a:prstDash val="solid"/>
          </a:ln>
        </p:spPr>
        <p:txBody>
          <a:bodyPr/>
          <a:lstStyle/>
          <a:p>
            <a:endParaRPr lang="ko-KR" altLang="en-US"/>
          </a:p>
        </p:txBody>
      </p:sp>
      <p:pic>
        <p:nvPicPr>
          <p:cNvPr id="6" name="Image 0" descr="preencoded.png"/>
          <p:cNvPicPr>
            <a:picLocks noChangeAspect="1"/>
          </p:cNvPicPr>
          <p:nvPr/>
        </p:nvPicPr>
        <p:blipFill>
          <a:blip r:embed="rId3"/>
          <a:stretch>
            <a:fillRect/>
          </a:stretch>
        </p:blipFill>
        <p:spPr>
          <a:xfrm>
            <a:off x="1250442" y="2347722"/>
            <a:ext cx="288036" cy="288036"/>
          </a:xfrm>
          <a:prstGeom prst="rect">
            <a:avLst/>
          </a:prstGeom>
        </p:spPr>
      </p:pic>
      <p:sp>
        <p:nvSpPr>
          <p:cNvPr id="7" name="Text 4"/>
          <p:cNvSpPr txBox="1"/>
          <p:nvPr/>
        </p:nvSpPr>
        <p:spPr>
          <a:xfrm>
            <a:off x="1920240" y="2121408"/>
            <a:ext cx="4480560" cy="310896"/>
          </a:xfrm>
          <a:prstGeom prst="rect">
            <a:avLst/>
          </a:prstGeom>
          <a:noFill/>
          <a:ln/>
        </p:spPr>
        <p:txBody>
          <a:bodyPr wrap="square" lIns="0" tIns="0" rIns="0" bIns="0" rtlCol="0" anchor="ctr"/>
          <a:lstStyle/>
          <a:p>
            <a:pPr marL="0" indent="0">
              <a:buNone/>
            </a:pPr>
            <a:r>
              <a:rPr lang="en-US" sz="1100" b="1" dirty="0">
                <a:solidFill>
                  <a:srgbClr val="028090"/>
                </a:solidFill>
                <a:latin typeface="Malgun Gothic" pitchFamily="34" charset="0"/>
                <a:ea typeface="Malgun Gothic" pitchFamily="34" charset="-122"/>
                <a:cs typeface="Malgun Gothic" pitchFamily="34" charset="-120"/>
              </a:rPr>
              <a:t>STEP 1  </a:t>
            </a:r>
            <a:r>
              <a:rPr lang="en-US" sz="1600" b="1" dirty="0">
                <a:solidFill>
                  <a:srgbClr val="0F2126"/>
                </a:solidFill>
                <a:latin typeface="Malgun Gothic" pitchFamily="34" charset="0"/>
                <a:ea typeface="Malgun Gothic" pitchFamily="34" charset="-122"/>
                <a:cs typeface="Malgun Gothic" pitchFamily="34" charset="-120"/>
              </a:rPr>
              <a:t>사전 설정</a:t>
            </a:r>
            <a:endParaRPr lang="en-US" sz="1100" dirty="0"/>
          </a:p>
        </p:txBody>
      </p:sp>
      <p:sp>
        <p:nvSpPr>
          <p:cNvPr id="8" name="Text 5"/>
          <p:cNvSpPr txBox="1"/>
          <p:nvPr/>
        </p:nvSpPr>
        <p:spPr>
          <a:xfrm>
            <a:off x="1920240" y="2505456"/>
            <a:ext cx="4480560" cy="731520"/>
          </a:xfrm>
          <a:prstGeom prst="rect">
            <a:avLst/>
          </a:prstGeom>
          <a:noFill/>
          <a:ln/>
        </p:spPr>
        <p:txBody>
          <a:bodyPr wrap="square" lIns="0" tIns="0" rIns="0" bIns="0" rtlCol="0" anchor="ctr"/>
          <a:lstStyle/>
          <a:p>
            <a:pPr marL="0" indent="0">
              <a:lnSpc>
                <a:spcPts val="2000"/>
              </a:lnSpc>
              <a:buNone/>
            </a:pPr>
            <a:r>
              <a:rPr lang="en-US" sz="1250" dirty="0">
                <a:solidFill>
                  <a:srgbClr val="56686D"/>
                </a:solidFill>
                <a:latin typeface="Malgun Gothic" pitchFamily="34" charset="0"/>
                <a:ea typeface="Malgun Gothic" pitchFamily="34" charset="-122"/>
                <a:cs typeface="Malgun Gothic" pitchFamily="34" charset="-120"/>
              </a:rPr>
              <a:t>사용자마다 필요한 동작과 그 사람에게 알맞은 자극 세기를</a:t>
            </a:r>
            <a:endParaRPr lang="en-US" sz="1250" dirty="0"/>
          </a:p>
          <a:p>
            <a:pPr marL="0" indent="0">
              <a:lnSpc>
                <a:spcPts val="2000"/>
              </a:lnSpc>
              <a:buNone/>
            </a:pPr>
            <a:r>
              <a:rPr lang="en-US" sz="1250" dirty="0">
                <a:solidFill>
                  <a:srgbClr val="56686D"/>
                </a:solidFill>
                <a:latin typeface="Malgun Gothic" pitchFamily="34" charset="0"/>
                <a:ea typeface="Malgun Gothic" pitchFamily="34" charset="-122"/>
                <a:cs typeface="Malgun Gothic" pitchFamily="34" charset="-120"/>
              </a:rPr>
              <a:t>미리 저장해 둡니다.</a:t>
            </a:r>
            <a:endParaRPr lang="en-US" sz="1250" dirty="0"/>
          </a:p>
        </p:txBody>
      </p:sp>
      <p:sp>
        <p:nvSpPr>
          <p:cNvPr id="9" name="Shape 6"/>
          <p:cNvSpPr/>
          <p:nvPr/>
        </p:nvSpPr>
        <p:spPr>
          <a:xfrm>
            <a:off x="685800" y="3794760"/>
            <a:ext cx="5943600" cy="1783080"/>
          </a:xfrm>
          <a:prstGeom prst="roundRect">
            <a:avLst>
              <a:gd name="adj" fmla="val 6667"/>
            </a:avLst>
          </a:prstGeom>
          <a:solidFill>
            <a:srgbClr val="028090"/>
          </a:solidFill>
          <a:ln w="12700">
            <a:solidFill>
              <a:srgbClr val="028090"/>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0" name="Shape 7"/>
          <p:cNvSpPr/>
          <p:nvPr/>
        </p:nvSpPr>
        <p:spPr>
          <a:xfrm>
            <a:off x="1051560" y="4160520"/>
            <a:ext cx="685800" cy="685800"/>
          </a:xfrm>
          <a:prstGeom prst="ellipse">
            <a:avLst/>
          </a:prstGeom>
          <a:solidFill>
            <a:srgbClr val="FF6B35"/>
          </a:solidFill>
          <a:ln w="12700">
            <a:solidFill>
              <a:srgbClr val="FF6B35"/>
            </a:solidFill>
            <a:prstDash val="solid"/>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1250442" y="4359402"/>
            <a:ext cx="288036" cy="288036"/>
          </a:xfrm>
          <a:prstGeom prst="rect">
            <a:avLst/>
          </a:prstGeom>
        </p:spPr>
      </p:pic>
      <p:sp>
        <p:nvSpPr>
          <p:cNvPr id="12" name="Text 8"/>
          <p:cNvSpPr txBox="1"/>
          <p:nvPr/>
        </p:nvSpPr>
        <p:spPr>
          <a:xfrm>
            <a:off x="1920240" y="4133088"/>
            <a:ext cx="4480560" cy="310896"/>
          </a:xfrm>
          <a:prstGeom prst="rect">
            <a:avLst/>
          </a:prstGeom>
          <a:noFill/>
          <a:ln/>
        </p:spPr>
        <p:txBody>
          <a:bodyPr wrap="square" lIns="0" tIns="0" rIns="0" bIns="0" rtlCol="0" anchor="ctr"/>
          <a:lstStyle/>
          <a:p>
            <a:pPr marL="0" indent="0">
              <a:buNone/>
            </a:pPr>
            <a:r>
              <a:rPr lang="en-US" sz="1100" b="1" dirty="0">
                <a:solidFill>
                  <a:srgbClr val="00B99B"/>
                </a:solidFill>
                <a:latin typeface="Malgun Gothic" pitchFamily="34" charset="0"/>
                <a:ea typeface="Malgun Gothic" pitchFamily="34" charset="-122"/>
                <a:cs typeface="Malgun Gothic" pitchFamily="34" charset="-120"/>
              </a:rPr>
              <a:t>STEP 2  </a:t>
            </a:r>
            <a:r>
              <a:rPr lang="en-US" sz="1600" b="1" dirty="0">
                <a:solidFill>
                  <a:srgbClr val="FFFFFF"/>
                </a:solidFill>
                <a:latin typeface="Malgun Gothic" pitchFamily="34" charset="0"/>
                <a:ea typeface="Malgun Gothic" pitchFamily="34" charset="-122"/>
                <a:cs typeface="Malgun Gothic" pitchFamily="34" charset="-120"/>
              </a:rPr>
              <a:t>음성 호출</a:t>
            </a:r>
            <a:endParaRPr lang="en-US" sz="1100" dirty="0"/>
          </a:p>
        </p:txBody>
      </p:sp>
      <p:sp>
        <p:nvSpPr>
          <p:cNvPr id="13" name="Text 9"/>
          <p:cNvSpPr txBox="1"/>
          <p:nvPr/>
        </p:nvSpPr>
        <p:spPr>
          <a:xfrm>
            <a:off x="1920240" y="4517136"/>
            <a:ext cx="4480560" cy="731520"/>
          </a:xfrm>
          <a:prstGeom prst="rect">
            <a:avLst/>
          </a:prstGeom>
          <a:noFill/>
          <a:ln/>
        </p:spPr>
        <p:txBody>
          <a:bodyPr wrap="square" lIns="0" tIns="0" rIns="0" bIns="0" rtlCol="0" anchor="ctr"/>
          <a:lstStyle/>
          <a:p>
            <a:pPr marL="0" indent="0">
              <a:lnSpc>
                <a:spcPts val="2000"/>
              </a:lnSpc>
              <a:buNone/>
            </a:pPr>
            <a:r>
              <a:rPr lang="en-US" sz="1250" dirty="0">
                <a:solidFill>
                  <a:srgbClr val="DFF3F1"/>
                </a:solidFill>
                <a:latin typeface="Malgun Gothic" pitchFamily="34" charset="0"/>
                <a:ea typeface="Malgun Gothic" pitchFamily="34" charset="-122"/>
                <a:cs typeface="Malgun Gothic" pitchFamily="34" charset="-120"/>
              </a:rPr>
              <a:t>동작 이름을 말하면 저장된 설정을 불러와 즉시 실행합니다.</a:t>
            </a:r>
            <a:endParaRPr lang="en-US" sz="1250" dirty="0"/>
          </a:p>
          <a:p>
            <a:pPr marL="0" indent="0">
              <a:lnSpc>
                <a:spcPts val="2000"/>
              </a:lnSpc>
              <a:buNone/>
            </a:pPr>
            <a:r>
              <a:rPr lang="en-US" sz="1250" dirty="0">
                <a:solidFill>
                  <a:srgbClr val="DFF3F1"/>
                </a:solidFill>
                <a:latin typeface="Malgun Gothic" pitchFamily="34" charset="0"/>
                <a:ea typeface="Malgun Gothic" pitchFamily="34" charset="-122"/>
                <a:cs typeface="Malgun Gothic" pitchFamily="34" charset="-120"/>
              </a:rPr>
              <a:t>예)  “수저 들기 보조” → 저장된 채널 설정으로 즉시 실행</a:t>
            </a:r>
            <a:endParaRPr lang="en-US" sz="1250" dirty="0"/>
          </a:p>
        </p:txBody>
      </p:sp>
      <p:sp>
        <p:nvSpPr>
          <p:cNvPr id="14" name="Shape 10"/>
          <p:cNvSpPr/>
          <p:nvPr/>
        </p:nvSpPr>
        <p:spPr>
          <a:xfrm>
            <a:off x="6995160" y="1783080"/>
            <a:ext cx="4526280" cy="3794760"/>
          </a:xfrm>
          <a:prstGeom prst="roundRect">
            <a:avLst>
              <a:gd name="adj" fmla="val 3133"/>
            </a:avLst>
          </a:prstGeom>
          <a:solidFill>
            <a:srgbClr val="062A33"/>
          </a:solidFill>
          <a:ln w="12700">
            <a:solidFill>
              <a:srgbClr val="062A33"/>
            </a:solidFill>
            <a:prstDash val="solid"/>
          </a:ln>
        </p:spPr>
        <p:txBody>
          <a:bodyPr/>
          <a:lstStyle/>
          <a:p>
            <a:endParaRPr lang="ko-KR" altLang="en-US"/>
          </a:p>
        </p:txBody>
      </p:sp>
      <p:sp>
        <p:nvSpPr>
          <p:cNvPr id="15" name="Text 11"/>
          <p:cNvSpPr txBox="1"/>
          <p:nvPr/>
        </p:nvSpPr>
        <p:spPr>
          <a:xfrm>
            <a:off x="7315200" y="2057400"/>
            <a:ext cx="3931920" cy="292608"/>
          </a:xfrm>
          <a:prstGeom prst="rect">
            <a:avLst/>
          </a:prstGeom>
          <a:noFill/>
          <a:ln/>
        </p:spPr>
        <p:txBody>
          <a:bodyPr wrap="square" lIns="0" tIns="0" rIns="0" bIns="0" rtlCol="0" anchor="ctr"/>
          <a:lstStyle/>
          <a:p>
            <a:pPr marL="0" indent="0">
              <a:buNone/>
            </a:pPr>
            <a:r>
              <a:rPr lang="en-US" sz="1500" b="1" dirty="0">
                <a:solidFill>
                  <a:srgbClr val="00B99B"/>
                </a:solidFill>
                <a:latin typeface="Malgun Gothic" pitchFamily="34" charset="0"/>
                <a:ea typeface="Malgun Gothic" pitchFamily="34" charset="-122"/>
                <a:cs typeface="Malgun Gothic" pitchFamily="34" charset="-120"/>
              </a:rPr>
              <a:t>저장 프리셋 (예시)</a:t>
            </a:r>
            <a:endParaRPr lang="en-US" sz="1500" dirty="0"/>
          </a:p>
        </p:txBody>
      </p:sp>
      <p:sp>
        <p:nvSpPr>
          <p:cNvPr id="16" name="Text 12"/>
          <p:cNvSpPr txBox="1"/>
          <p:nvPr/>
        </p:nvSpPr>
        <p:spPr>
          <a:xfrm>
            <a:off x="7315200" y="2542032"/>
            <a:ext cx="2194560" cy="256032"/>
          </a:xfrm>
          <a:prstGeom prst="rect">
            <a:avLst/>
          </a:prstGeom>
          <a:noFill/>
          <a:ln/>
        </p:spPr>
        <p:txBody>
          <a:bodyPr wrap="square" lIns="0" tIns="0" rIns="0" bIns="0" rtlCol="0" anchor="ctr"/>
          <a:lstStyle/>
          <a:p>
            <a:pPr marL="0" indent="0">
              <a:buNone/>
            </a:pPr>
            <a:r>
              <a:rPr lang="en-US" sz="1100" b="1" dirty="0">
                <a:solidFill>
                  <a:srgbClr val="8FB4BA"/>
                </a:solidFill>
                <a:latin typeface="Malgun Gothic" pitchFamily="34" charset="0"/>
                <a:ea typeface="Malgun Gothic" pitchFamily="34" charset="-122"/>
                <a:cs typeface="Malgun Gothic" pitchFamily="34" charset="-120"/>
              </a:rPr>
              <a:t>저장된 동작</a:t>
            </a:r>
            <a:endParaRPr lang="en-US" sz="1100" dirty="0"/>
          </a:p>
        </p:txBody>
      </p:sp>
      <p:sp>
        <p:nvSpPr>
          <p:cNvPr id="17" name="Text 13"/>
          <p:cNvSpPr txBox="1"/>
          <p:nvPr/>
        </p:nvSpPr>
        <p:spPr>
          <a:xfrm>
            <a:off x="9235440" y="2542032"/>
            <a:ext cx="2011680" cy="256032"/>
          </a:xfrm>
          <a:prstGeom prst="rect">
            <a:avLst/>
          </a:prstGeom>
          <a:noFill/>
          <a:ln/>
        </p:spPr>
        <p:txBody>
          <a:bodyPr wrap="square" lIns="0" tIns="0" rIns="0" bIns="0" rtlCol="0" anchor="ctr"/>
          <a:lstStyle/>
          <a:p>
            <a:pPr marL="0" indent="0" algn="r">
              <a:buNone/>
            </a:pPr>
            <a:r>
              <a:rPr lang="en-US" sz="1100" b="1" dirty="0">
                <a:solidFill>
                  <a:srgbClr val="8FB4BA"/>
                </a:solidFill>
                <a:latin typeface="Malgun Gothic" pitchFamily="34" charset="0"/>
                <a:ea typeface="Malgun Gothic" pitchFamily="34" charset="-122"/>
                <a:cs typeface="Malgun Gothic" pitchFamily="34" charset="-120"/>
              </a:rPr>
              <a:t>자극 패턴</a:t>
            </a:r>
            <a:endParaRPr lang="en-US" sz="1100" dirty="0"/>
          </a:p>
        </p:txBody>
      </p:sp>
      <p:sp>
        <p:nvSpPr>
          <p:cNvPr id="18" name="Shape 14"/>
          <p:cNvSpPr/>
          <p:nvPr/>
        </p:nvSpPr>
        <p:spPr>
          <a:xfrm>
            <a:off x="7269480" y="2907792"/>
            <a:ext cx="3977640" cy="841248"/>
          </a:xfrm>
          <a:prstGeom prst="roundRect">
            <a:avLst>
              <a:gd name="adj" fmla="val 8696"/>
            </a:avLst>
          </a:prstGeom>
          <a:solidFill>
            <a:srgbClr val="0C4450"/>
          </a:solidFill>
          <a:ln w="12700">
            <a:solidFill>
              <a:srgbClr val="0C4450"/>
            </a:solidFill>
            <a:prstDash val="solid"/>
          </a:ln>
        </p:spPr>
        <p:txBody>
          <a:bodyPr/>
          <a:lstStyle/>
          <a:p>
            <a:endParaRPr lang="ko-KR" altLang="en-US"/>
          </a:p>
        </p:txBody>
      </p:sp>
      <p:sp>
        <p:nvSpPr>
          <p:cNvPr id="19" name="Text 15"/>
          <p:cNvSpPr txBox="1"/>
          <p:nvPr/>
        </p:nvSpPr>
        <p:spPr>
          <a:xfrm>
            <a:off x="7498080" y="3182112"/>
            <a:ext cx="1600200" cy="29260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수저 들기 보조</a:t>
            </a:r>
            <a:endParaRPr lang="en-US" sz="1300" dirty="0"/>
          </a:p>
        </p:txBody>
      </p:sp>
      <p:sp>
        <p:nvSpPr>
          <p:cNvPr id="20" name="Text 16"/>
          <p:cNvSpPr txBox="1"/>
          <p:nvPr/>
        </p:nvSpPr>
        <p:spPr>
          <a:xfrm>
            <a:off x="9144000" y="3054096"/>
            <a:ext cx="1920240" cy="566928"/>
          </a:xfrm>
          <a:prstGeom prst="rect">
            <a:avLst/>
          </a:prstGeom>
          <a:noFill/>
          <a:ln/>
        </p:spPr>
        <p:txBody>
          <a:bodyPr wrap="square" lIns="0" tIns="0" rIns="0" bIns="0" rtlCol="0" anchor="ctr"/>
          <a:lstStyle/>
          <a:p>
            <a:pPr marL="0" indent="0" algn="r">
              <a:lnSpc>
                <a:spcPts val="1400"/>
              </a:lnSpc>
              <a:buNone/>
            </a:pPr>
            <a:r>
              <a:rPr lang="en-US" sz="1000" dirty="0">
                <a:solidFill>
                  <a:srgbClr val="FFB703"/>
                </a:solidFill>
                <a:latin typeface="Malgun Gothic" pitchFamily="34" charset="0"/>
                <a:ea typeface="Malgun Gothic" pitchFamily="34" charset="-122"/>
                <a:cs typeface="Malgun Gothic" pitchFamily="34" charset="-120"/>
              </a:rPr>
              <a:t>채널1 2초 램프업 →</a:t>
            </a:r>
            <a:endParaRPr lang="en-US" sz="1000" dirty="0"/>
          </a:p>
          <a:p>
            <a:pPr marL="0" indent="0" algn="r">
              <a:lnSpc>
                <a:spcPts val="1400"/>
              </a:lnSpc>
              <a:buNone/>
            </a:pPr>
            <a:r>
              <a:rPr lang="en-US" sz="1000" dirty="0">
                <a:solidFill>
                  <a:srgbClr val="FFB703"/>
                </a:solidFill>
                <a:latin typeface="Malgun Gothic" pitchFamily="34" charset="0"/>
                <a:ea typeface="Malgun Gothic" pitchFamily="34" charset="-122"/>
                <a:cs typeface="Malgun Gothic" pitchFamily="34" charset="-120"/>
              </a:rPr>
              <a:t>채널2 3초 램프업</a:t>
            </a:r>
            <a:endParaRPr lang="en-US" sz="1000" dirty="0"/>
          </a:p>
        </p:txBody>
      </p:sp>
      <p:sp>
        <p:nvSpPr>
          <p:cNvPr id="21" name="Shape 17"/>
          <p:cNvSpPr/>
          <p:nvPr/>
        </p:nvSpPr>
        <p:spPr>
          <a:xfrm>
            <a:off x="7269480" y="3867912"/>
            <a:ext cx="3977640" cy="841248"/>
          </a:xfrm>
          <a:prstGeom prst="roundRect">
            <a:avLst>
              <a:gd name="adj" fmla="val 8696"/>
            </a:avLst>
          </a:prstGeom>
          <a:solidFill>
            <a:srgbClr val="0C4450"/>
          </a:solidFill>
          <a:ln w="12700">
            <a:solidFill>
              <a:srgbClr val="0C4450"/>
            </a:solidFill>
            <a:prstDash val="solid"/>
          </a:ln>
        </p:spPr>
        <p:txBody>
          <a:bodyPr/>
          <a:lstStyle/>
          <a:p>
            <a:endParaRPr lang="ko-KR" altLang="en-US"/>
          </a:p>
        </p:txBody>
      </p:sp>
      <p:sp>
        <p:nvSpPr>
          <p:cNvPr id="22" name="Text 18"/>
          <p:cNvSpPr txBox="1"/>
          <p:nvPr/>
        </p:nvSpPr>
        <p:spPr>
          <a:xfrm>
            <a:off x="7498080" y="4142232"/>
            <a:ext cx="1600200" cy="29260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이두운동</a:t>
            </a:r>
            <a:endParaRPr lang="en-US" sz="1300" dirty="0"/>
          </a:p>
        </p:txBody>
      </p:sp>
      <p:sp>
        <p:nvSpPr>
          <p:cNvPr id="23" name="Text 19"/>
          <p:cNvSpPr txBox="1"/>
          <p:nvPr/>
        </p:nvSpPr>
        <p:spPr>
          <a:xfrm>
            <a:off x="9144000" y="4014216"/>
            <a:ext cx="1920240" cy="566928"/>
          </a:xfrm>
          <a:prstGeom prst="rect">
            <a:avLst/>
          </a:prstGeom>
          <a:noFill/>
          <a:ln/>
        </p:spPr>
        <p:txBody>
          <a:bodyPr wrap="square" lIns="0" tIns="0" rIns="0" bIns="0" rtlCol="0" anchor="ctr"/>
          <a:lstStyle/>
          <a:p>
            <a:pPr marL="0" indent="0" algn="r">
              <a:lnSpc>
                <a:spcPts val="1400"/>
              </a:lnSpc>
              <a:buNone/>
            </a:pPr>
            <a:r>
              <a:rPr lang="en-US" sz="1000" dirty="0">
                <a:solidFill>
                  <a:srgbClr val="FFB703"/>
                </a:solidFill>
                <a:latin typeface="Malgun Gothic" pitchFamily="34" charset="0"/>
                <a:ea typeface="Malgun Gothic" pitchFamily="34" charset="-122"/>
                <a:cs typeface="Malgun Gothic" pitchFamily="34" charset="-120"/>
              </a:rPr>
              <a:t>채널2 상승 3초 · 유지 1초 ·</a:t>
            </a:r>
            <a:endParaRPr lang="en-US" sz="1000" dirty="0"/>
          </a:p>
          <a:p>
            <a:pPr marL="0" indent="0" algn="r">
              <a:lnSpc>
                <a:spcPts val="1400"/>
              </a:lnSpc>
              <a:buNone/>
            </a:pPr>
            <a:r>
              <a:rPr lang="en-US" sz="1000" dirty="0">
                <a:solidFill>
                  <a:srgbClr val="FFB703"/>
                </a:solidFill>
                <a:latin typeface="Malgun Gothic" pitchFamily="34" charset="0"/>
                <a:ea typeface="Malgun Gothic" pitchFamily="34" charset="-122"/>
                <a:cs typeface="Malgun Gothic" pitchFamily="34" charset="-120"/>
              </a:rPr>
              <a:t>하강 3초를 지정 횟수 반복</a:t>
            </a:r>
            <a:endParaRPr lang="en-US" sz="1000" dirty="0"/>
          </a:p>
        </p:txBody>
      </p:sp>
      <p:sp>
        <p:nvSpPr>
          <p:cNvPr id="24" name="Text 20"/>
          <p:cNvSpPr txBox="1"/>
          <p:nvPr/>
        </p:nvSpPr>
        <p:spPr>
          <a:xfrm>
            <a:off x="7315200" y="4956048"/>
            <a:ext cx="3931920" cy="411480"/>
          </a:xfrm>
          <a:prstGeom prst="rect">
            <a:avLst/>
          </a:prstGeom>
          <a:noFill/>
          <a:ln/>
        </p:spPr>
        <p:txBody>
          <a:bodyPr wrap="square" lIns="0" tIns="0" rIns="0" bIns="0" rtlCol="0" anchor="ctr"/>
          <a:lstStyle/>
          <a:p>
            <a:pPr marL="0" indent="0">
              <a:lnSpc>
                <a:spcPts val="1500"/>
              </a:lnSpc>
              <a:buNone/>
            </a:pPr>
            <a:r>
              <a:rPr lang="en-US" sz="1050" dirty="0">
                <a:solidFill>
                  <a:srgbClr val="8FB4BA"/>
                </a:solidFill>
                <a:latin typeface="Malgun Gothic" pitchFamily="34" charset="0"/>
                <a:ea typeface="Malgun Gothic" pitchFamily="34" charset="-122"/>
                <a:cs typeface="Malgun Gothic" pitchFamily="34" charset="-120"/>
              </a:rPr>
              <a:t>회원번호별로 채널1·채널2 세기와 반복 횟수를 저장해 불러옴</a:t>
            </a:r>
            <a:endParaRPr lang="en-US" sz="1050" dirty="0"/>
          </a:p>
        </p:txBody>
      </p:sp>
      <p:sp>
        <p:nvSpPr>
          <p:cNvPr id="25" name="Shape 21"/>
          <p:cNvSpPr/>
          <p:nvPr/>
        </p:nvSpPr>
        <p:spPr>
          <a:xfrm>
            <a:off x="685800" y="5806440"/>
            <a:ext cx="10835640" cy="658368"/>
          </a:xfrm>
          <a:prstGeom prst="roundRect">
            <a:avLst>
              <a:gd name="adj" fmla="val 18056"/>
            </a:avLst>
          </a:prstGeom>
          <a:solidFill>
            <a:srgbClr val="DCEBEE"/>
          </a:solidFill>
          <a:ln w="12700">
            <a:solidFill>
              <a:srgbClr val="DCEBEE"/>
            </a:solidFill>
            <a:prstDash val="solid"/>
          </a:ln>
        </p:spPr>
        <p:txBody>
          <a:bodyPr/>
          <a:lstStyle/>
          <a:p>
            <a:endParaRPr lang="ko-KR" altLang="en-US"/>
          </a:p>
        </p:txBody>
      </p:sp>
      <p:sp>
        <p:nvSpPr>
          <p:cNvPr id="26" name="Text 22"/>
          <p:cNvSpPr txBox="1"/>
          <p:nvPr/>
        </p:nvSpPr>
        <p:spPr>
          <a:xfrm>
            <a:off x="960120" y="5943600"/>
            <a:ext cx="10332720" cy="384048"/>
          </a:xfrm>
          <a:prstGeom prst="rect">
            <a:avLst/>
          </a:prstGeom>
          <a:noFill/>
          <a:ln/>
        </p:spPr>
        <p:txBody>
          <a:bodyPr wrap="square" lIns="0" tIns="0" rIns="0" bIns="0" rtlCol="0" anchor="ctr"/>
          <a:lstStyle/>
          <a:p>
            <a:pPr marL="0" indent="0">
              <a:buNone/>
            </a:pPr>
            <a:r>
              <a:rPr lang="en-US" sz="1300" b="1" dirty="0">
                <a:solidFill>
                  <a:srgbClr val="062A33"/>
                </a:solidFill>
                <a:latin typeface="Malgun Gothic" pitchFamily="34" charset="0"/>
                <a:ea typeface="Malgun Gothic" pitchFamily="34" charset="-122"/>
                <a:cs typeface="Malgun Gothic" pitchFamily="34" charset="-120"/>
              </a:rPr>
              <a:t>버튼 조작 없이 목소리만으로 실행 — 손을 쓰기 어려운 사용자도 스스로 훈련을 시작할 수 있습니다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384048"/>
            <a:ext cx="8229600" cy="292608"/>
          </a:xfrm>
          <a:prstGeom prst="rect">
            <a:avLst/>
          </a:prstGeom>
          <a:noFill/>
          <a:ln/>
        </p:spPr>
        <p:txBody>
          <a:bodyPr wrap="square" lIns="0" tIns="0" rIns="0" bIns="0" rtlCol="0" anchor="ctr"/>
          <a:lstStyle/>
          <a:p>
            <a:pPr marL="0" indent="0">
              <a:buNone/>
            </a:pPr>
            <a:r>
              <a:rPr lang="en-US" sz="1300" b="1" kern="0" spc="150" dirty="0">
                <a:solidFill>
                  <a:srgbClr val="028090"/>
                </a:solidFill>
                <a:latin typeface="Malgun Gothic" pitchFamily="34" charset="0"/>
                <a:ea typeface="Malgun Gothic" pitchFamily="34" charset="-122"/>
                <a:cs typeface="Malgun Gothic" pitchFamily="34" charset="-120"/>
              </a:rPr>
              <a:t>06  차별점 · 안전장치</a:t>
            </a:r>
            <a:endParaRPr lang="en-US" sz="1300" dirty="0"/>
          </a:p>
        </p:txBody>
      </p:sp>
      <p:sp>
        <p:nvSpPr>
          <p:cNvPr id="3" name="Text 1"/>
          <p:cNvSpPr txBox="1"/>
          <p:nvPr/>
        </p:nvSpPr>
        <p:spPr>
          <a:xfrm>
            <a:off x="685800" y="713232"/>
            <a:ext cx="10881360" cy="658368"/>
          </a:xfrm>
          <a:prstGeom prst="rect">
            <a:avLst/>
          </a:prstGeom>
          <a:noFill/>
          <a:ln/>
        </p:spPr>
        <p:txBody>
          <a:bodyPr wrap="square" lIns="0" tIns="0" rIns="0" bIns="0" rtlCol="0" anchor="ctr"/>
          <a:lstStyle/>
          <a:p>
            <a:pPr marL="0" indent="0">
              <a:buNone/>
            </a:pPr>
            <a:r>
              <a:rPr lang="en-US" sz="3100" b="1" dirty="0">
                <a:solidFill>
                  <a:srgbClr val="0F2126"/>
                </a:solidFill>
                <a:latin typeface="Malgun Gothic" pitchFamily="34" charset="0"/>
                <a:ea typeface="Malgun Gothic" pitchFamily="34" charset="-122"/>
                <a:cs typeface="Malgun Gothic" pitchFamily="34" charset="-120"/>
              </a:rPr>
              <a:t>정해진 자극의 반복이 아니라, 반응을 보고 조절합니다</a:t>
            </a:r>
            <a:endParaRPr lang="en-US" sz="3100" dirty="0"/>
          </a:p>
        </p:txBody>
      </p:sp>
      <p:sp>
        <p:nvSpPr>
          <p:cNvPr id="4" name="Shape 2"/>
          <p:cNvSpPr/>
          <p:nvPr/>
        </p:nvSpPr>
        <p:spPr>
          <a:xfrm>
            <a:off x="685800" y="1783080"/>
            <a:ext cx="5303520" cy="2331720"/>
          </a:xfrm>
          <a:prstGeom prst="roundRect">
            <a:avLst>
              <a:gd name="adj" fmla="val 5098"/>
            </a:avLst>
          </a:prstGeom>
          <a:solidFill>
            <a:srgbClr val="DCEBEE"/>
          </a:solidFill>
          <a:ln w="12700">
            <a:solidFill>
              <a:srgbClr val="DCEBEE"/>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5" name="Text 3"/>
          <p:cNvSpPr txBox="1"/>
          <p:nvPr/>
        </p:nvSpPr>
        <p:spPr>
          <a:xfrm>
            <a:off x="1051560" y="2057400"/>
            <a:ext cx="4572000" cy="310896"/>
          </a:xfrm>
          <a:prstGeom prst="rect">
            <a:avLst/>
          </a:prstGeom>
          <a:noFill/>
          <a:ln/>
        </p:spPr>
        <p:txBody>
          <a:bodyPr wrap="square" lIns="0" tIns="0" rIns="0" bIns="0" rtlCol="0" anchor="ctr"/>
          <a:lstStyle/>
          <a:p>
            <a:pPr marL="0" indent="0">
              <a:buNone/>
            </a:pPr>
            <a:r>
              <a:rPr lang="en-US" sz="1700" b="1" dirty="0">
                <a:solidFill>
                  <a:srgbClr val="56686D"/>
                </a:solidFill>
                <a:latin typeface="Malgun Gothic" pitchFamily="34" charset="0"/>
                <a:ea typeface="Malgun Gothic" pitchFamily="34" charset="-122"/>
                <a:cs typeface="Malgun Gothic" pitchFamily="34" charset="-120"/>
              </a:rPr>
              <a:t>일반 저주파 자극 장치</a:t>
            </a:r>
            <a:endParaRPr lang="en-US" sz="1700" dirty="0"/>
          </a:p>
        </p:txBody>
      </p:sp>
      <p:sp>
        <p:nvSpPr>
          <p:cNvPr id="6" name="Shape 4"/>
          <p:cNvSpPr/>
          <p:nvPr/>
        </p:nvSpPr>
        <p:spPr>
          <a:xfrm>
            <a:off x="1078992" y="2651760"/>
            <a:ext cx="118872" cy="118872"/>
          </a:xfrm>
          <a:prstGeom prst="ellipse">
            <a:avLst/>
          </a:prstGeom>
          <a:solidFill>
            <a:srgbClr val="A6B4B8"/>
          </a:solidFill>
          <a:ln w="12700">
            <a:solidFill>
              <a:srgbClr val="A6B4B8"/>
            </a:solidFill>
            <a:prstDash val="solid"/>
          </a:ln>
        </p:spPr>
        <p:txBody>
          <a:bodyPr/>
          <a:lstStyle/>
          <a:p>
            <a:endParaRPr lang="ko-KR" altLang="en-US"/>
          </a:p>
        </p:txBody>
      </p:sp>
      <p:sp>
        <p:nvSpPr>
          <p:cNvPr id="7" name="Text 5"/>
          <p:cNvSpPr txBox="1"/>
          <p:nvPr/>
        </p:nvSpPr>
        <p:spPr>
          <a:xfrm>
            <a:off x="1371600" y="2587752"/>
            <a:ext cx="4389120" cy="274320"/>
          </a:xfrm>
          <a:prstGeom prst="rect">
            <a:avLst/>
          </a:prstGeom>
          <a:noFill/>
          <a:ln/>
        </p:spPr>
        <p:txBody>
          <a:bodyPr wrap="square" lIns="0" tIns="0" rIns="0" bIns="0" rtlCol="0" anchor="ctr"/>
          <a:lstStyle/>
          <a:p>
            <a:pPr marL="0" indent="0">
              <a:buNone/>
            </a:pPr>
            <a:r>
              <a:rPr lang="en-US" sz="1250" dirty="0">
                <a:solidFill>
                  <a:srgbClr val="56686D"/>
                </a:solidFill>
                <a:latin typeface="Malgun Gothic" pitchFamily="34" charset="0"/>
                <a:ea typeface="Malgun Gothic" pitchFamily="34" charset="-122"/>
                <a:cs typeface="Malgun Gothic" pitchFamily="34" charset="-120"/>
              </a:rPr>
              <a:t>미리 설정된 세기의 자극을 그대로 반복</a:t>
            </a:r>
            <a:endParaRPr lang="en-US" sz="1250" dirty="0"/>
          </a:p>
        </p:txBody>
      </p:sp>
      <p:sp>
        <p:nvSpPr>
          <p:cNvPr id="8" name="Shape 6"/>
          <p:cNvSpPr/>
          <p:nvPr/>
        </p:nvSpPr>
        <p:spPr>
          <a:xfrm>
            <a:off x="1078992" y="3108960"/>
            <a:ext cx="118872" cy="118872"/>
          </a:xfrm>
          <a:prstGeom prst="ellipse">
            <a:avLst/>
          </a:prstGeom>
          <a:solidFill>
            <a:srgbClr val="A6B4B8"/>
          </a:solidFill>
          <a:ln w="12700">
            <a:solidFill>
              <a:srgbClr val="A6B4B8"/>
            </a:solidFill>
            <a:prstDash val="solid"/>
          </a:ln>
        </p:spPr>
        <p:txBody>
          <a:bodyPr/>
          <a:lstStyle/>
          <a:p>
            <a:endParaRPr lang="ko-KR" altLang="en-US"/>
          </a:p>
        </p:txBody>
      </p:sp>
      <p:sp>
        <p:nvSpPr>
          <p:cNvPr id="9" name="Text 7"/>
          <p:cNvSpPr txBox="1"/>
          <p:nvPr/>
        </p:nvSpPr>
        <p:spPr>
          <a:xfrm>
            <a:off x="1371600" y="3044952"/>
            <a:ext cx="4389120" cy="274320"/>
          </a:xfrm>
          <a:prstGeom prst="rect">
            <a:avLst/>
          </a:prstGeom>
          <a:noFill/>
          <a:ln/>
        </p:spPr>
        <p:txBody>
          <a:bodyPr wrap="square" lIns="0" tIns="0" rIns="0" bIns="0" rtlCol="0" anchor="ctr"/>
          <a:lstStyle/>
          <a:p>
            <a:pPr marL="0" indent="0">
              <a:buNone/>
            </a:pPr>
            <a:r>
              <a:rPr lang="en-US" sz="1250" dirty="0">
                <a:solidFill>
                  <a:srgbClr val="56686D"/>
                </a:solidFill>
                <a:latin typeface="Malgun Gothic" pitchFamily="34" charset="0"/>
                <a:ea typeface="Malgun Gothic" pitchFamily="34" charset="-122"/>
                <a:cs typeface="Malgun Gothic" pitchFamily="34" charset="-120"/>
              </a:rPr>
              <a:t>실제로 손이 얼마나 움직였는지 확인하지 않음</a:t>
            </a:r>
            <a:endParaRPr lang="en-US" sz="1250" dirty="0"/>
          </a:p>
        </p:txBody>
      </p:sp>
      <p:sp>
        <p:nvSpPr>
          <p:cNvPr id="10" name="Shape 8"/>
          <p:cNvSpPr/>
          <p:nvPr/>
        </p:nvSpPr>
        <p:spPr>
          <a:xfrm>
            <a:off x="1078992" y="3566160"/>
            <a:ext cx="118872" cy="118872"/>
          </a:xfrm>
          <a:prstGeom prst="ellipse">
            <a:avLst/>
          </a:prstGeom>
          <a:solidFill>
            <a:srgbClr val="A6B4B8"/>
          </a:solidFill>
          <a:ln w="12700">
            <a:solidFill>
              <a:srgbClr val="A6B4B8"/>
            </a:solidFill>
            <a:prstDash val="solid"/>
          </a:ln>
        </p:spPr>
        <p:txBody>
          <a:bodyPr/>
          <a:lstStyle/>
          <a:p>
            <a:endParaRPr lang="ko-KR" altLang="en-US"/>
          </a:p>
        </p:txBody>
      </p:sp>
      <p:sp>
        <p:nvSpPr>
          <p:cNvPr id="11" name="Text 9"/>
          <p:cNvSpPr txBox="1"/>
          <p:nvPr/>
        </p:nvSpPr>
        <p:spPr>
          <a:xfrm>
            <a:off x="1371600" y="3502152"/>
            <a:ext cx="4389120" cy="274320"/>
          </a:xfrm>
          <a:prstGeom prst="rect">
            <a:avLst/>
          </a:prstGeom>
          <a:noFill/>
          <a:ln/>
        </p:spPr>
        <p:txBody>
          <a:bodyPr wrap="square" lIns="0" tIns="0" rIns="0" bIns="0" rtlCol="0" anchor="ctr"/>
          <a:lstStyle/>
          <a:p>
            <a:pPr marL="0" indent="0">
              <a:buNone/>
            </a:pPr>
            <a:r>
              <a:rPr lang="en-US" sz="1250" dirty="0">
                <a:solidFill>
                  <a:srgbClr val="56686D"/>
                </a:solidFill>
                <a:latin typeface="Malgun Gothic" pitchFamily="34" charset="0"/>
                <a:ea typeface="Malgun Gothic" pitchFamily="34" charset="-122"/>
                <a:cs typeface="Malgun Gothic" pitchFamily="34" charset="-120"/>
              </a:rPr>
              <a:t>사용자별 반응 차이를 반영하기 어려움</a:t>
            </a:r>
            <a:endParaRPr lang="en-US" sz="1250" dirty="0"/>
          </a:p>
        </p:txBody>
      </p:sp>
      <p:sp>
        <p:nvSpPr>
          <p:cNvPr id="12" name="Shape 10"/>
          <p:cNvSpPr/>
          <p:nvPr/>
        </p:nvSpPr>
        <p:spPr>
          <a:xfrm>
            <a:off x="6217920" y="1783080"/>
            <a:ext cx="5303520" cy="2331720"/>
          </a:xfrm>
          <a:prstGeom prst="roundRect">
            <a:avLst>
              <a:gd name="adj" fmla="val 5098"/>
            </a:avLst>
          </a:prstGeom>
          <a:solidFill>
            <a:srgbClr val="028090"/>
          </a:solidFill>
          <a:ln w="12700">
            <a:solidFill>
              <a:srgbClr val="028090"/>
            </a:solidFill>
            <a:prstDash val="solid"/>
          </a:ln>
          <a:effectLst>
            <a:outerShdw blurRad="127000" dist="25400" dir="5400000" algn="bl" rotWithShape="0">
              <a:srgbClr val="0A2A30">
                <a:alpha val="13000"/>
              </a:srgbClr>
            </a:outerShdw>
          </a:effectLst>
        </p:spPr>
        <p:txBody>
          <a:bodyPr/>
          <a:lstStyle/>
          <a:p>
            <a:endParaRPr lang="ko-KR" altLang="en-US"/>
          </a:p>
        </p:txBody>
      </p:sp>
      <p:sp>
        <p:nvSpPr>
          <p:cNvPr id="13" name="Text 11"/>
          <p:cNvSpPr txBox="1"/>
          <p:nvPr/>
        </p:nvSpPr>
        <p:spPr>
          <a:xfrm>
            <a:off x="6583680" y="2057400"/>
            <a:ext cx="4572000" cy="310896"/>
          </a:xfrm>
          <a:prstGeom prst="rect">
            <a:avLst/>
          </a:prstGeom>
          <a:noFill/>
          <a:ln/>
        </p:spPr>
        <p:txBody>
          <a:bodyPr wrap="square" lIns="0" tIns="0" rIns="0" bIns="0" rtlCol="0" anchor="ctr"/>
          <a:lstStyle/>
          <a:p>
            <a:pPr marL="0" indent="0">
              <a:buNone/>
            </a:pPr>
            <a:r>
              <a:rPr lang="en-US" sz="1700" b="1" dirty="0">
                <a:solidFill>
                  <a:srgbClr val="FFFFFF"/>
                </a:solidFill>
                <a:latin typeface="Malgun Gothic" pitchFamily="34" charset="0"/>
                <a:ea typeface="Malgun Gothic" pitchFamily="34" charset="-122"/>
                <a:cs typeface="Malgun Gothic" pitchFamily="34" charset="-120"/>
              </a:rPr>
              <a:t>본 시스템</a:t>
            </a:r>
            <a:endParaRPr lang="en-US" sz="1700" dirty="0"/>
          </a:p>
        </p:txBody>
      </p:sp>
      <p:sp>
        <p:nvSpPr>
          <p:cNvPr id="14" name="Shape 12"/>
          <p:cNvSpPr/>
          <p:nvPr/>
        </p:nvSpPr>
        <p:spPr>
          <a:xfrm>
            <a:off x="6611112" y="2651760"/>
            <a:ext cx="118872" cy="118872"/>
          </a:xfrm>
          <a:prstGeom prst="ellipse">
            <a:avLst/>
          </a:prstGeom>
          <a:solidFill>
            <a:srgbClr val="00B99B"/>
          </a:solidFill>
          <a:ln w="12700">
            <a:solidFill>
              <a:srgbClr val="00B99B"/>
            </a:solidFill>
            <a:prstDash val="solid"/>
          </a:ln>
        </p:spPr>
        <p:txBody>
          <a:bodyPr/>
          <a:lstStyle/>
          <a:p>
            <a:endParaRPr lang="ko-KR" altLang="en-US"/>
          </a:p>
        </p:txBody>
      </p:sp>
      <p:sp>
        <p:nvSpPr>
          <p:cNvPr id="15" name="Text 13"/>
          <p:cNvSpPr txBox="1"/>
          <p:nvPr/>
        </p:nvSpPr>
        <p:spPr>
          <a:xfrm>
            <a:off x="6903720" y="2587752"/>
            <a:ext cx="4480560" cy="274320"/>
          </a:xfrm>
          <a:prstGeom prst="rect">
            <a:avLst/>
          </a:prstGeom>
          <a:noFill/>
          <a:ln/>
        </p:spPr>
        <p:txBody>
          <a:bodyPr wrap="square" lIns="0" tIns="0" rIns="0" bIns="0" rtlCol="0" anchor="ctr"/>
          <a:lstStyle/>
          <a:p>
            <a:pPr marL="0" indent="0">
              <a:buNone/>
            </a:pPr>
            <a:r>
              <a:rPr lang="en-US" sz="1250" dirty="0">
                <a:solidFill>
                  <a:srgbClr val="EAF7F5"/>
                </a:solidFill>
                <a:latin typeface="Malgun Gothic" pitchFamily="34" charset="0"/>
                <a:ea typeface="Malgun Gothic" pitchFamily="34" charset="-122"/>
                <a:cs typeface="Malgun Gothic" pitchFamily="34" charset="-120"/>
              </a:rPr>
              <a:t>정상 손의 목표값과 마비 손의 실제 반응을 함께 측정</a:t>
            </a:r>
            <a:endParaRPr lang="en-US" sz="1250" dirty="0"/>
          </a:p>
        </p:txBody>
      </p:sp>
      <p:sp>
        <p:nvSpPr>
          <p:cNvPr id="16" name="Shape 14"/>
          <p:cNvSpPr/>
          <p:nvPr/>
        </p:nvSpPr>
        <p:spPr>
          <a:xfrm>
            <a:off x="6611112" y="3108960"/>
            <a:ext cx="118872" cy="118872"/>
          </a:xfrm>
          <a:prstGeom prst="ellipse">
            <a:avLst/>
          </a:prstGeom>
          <a:solidFill>
            <a:srgbClr val="00B99B"/>
          </a:solidFill>
          <a:ln w="12700">
            <a:solidFill>
              <a:srgbClr val="00B99B"/>
            </a:solidFill>
            <a:prstDash val="solid"/>
          </a:ln>
        </p:spPr>
        <p:txBody>
          <a:bodyPr/>
          <a:lstStyle/>
          <a:p>
            <a:endParaRPr lang="ko-KR" altLang="en-US"/>
          </a:p>
        </p:txBody>
      </p:sp>
      <p:sp>
        <p:nvSpPr>
          <p:cNvPr id="17" name="Text 15"/>
          <p:cNvSpPr txBox="1"/>
          <p:nvPr/>
        </p:nvSpPr>
        <p:spPr>
          <a:xfrm>
            <a:off x="6903720" y="3044952"/>
            <a:ext cx="4480560" cy="274320"/>
          </a:xfrm>
          <a:prstGeom prst="rect">
            <a:avLst/>
          </a:prstGeom>
          <a:noFill/>
          <a:ln/>
        </p:spPr>
        <p:txBody>
          <a:bodyPr wrap="square" lIns="0" tIns="0" rIns="0" bIns="0" rtlCol="0" anchor="ctr"/>
          <a:lstStyle/>
          <a:p>
            <a:pPr marL="0" indent="0">
              <a:buNone/>
            </a:pPr>
            <a:r>
              <a:rPr lang="en-US" sz="1250" dirty="0">
                <a:solidFill>
                  <a:srgbClr val="EAF7F5"/>
                </a:solidFill>
                <a:latin typeface="Malgun Gothic" pitchFamily="34" charset="0"/>
                <a:ea typeface="Malgun Gothic" pitchFamily="34" charset="-122"/>
                <a:cs typeface="Malgun Gothic" pitchFamily="34" charset="-120"/>
              </a:rPr>
              <a:t>오차에 따라 자극 세기를 스스로 조절</a:t>
            </a:r>
            <a:endParaRPr lang="en-US" sz="1250" dirty="0"/>
          </a:p>
        </p:txBody>
      </p:sp>
      <p:sp>
        <p:nvSpPr>
          <p:cNvPr id="18" name="Shape 16"/>
          <p:cNvSpPr/>
          <p:nvPr/>
        </p:nvSpPr>
        <p:spPr>
          <a:xfrm>
            <a:off x="6611112" y="3566160"/>
            <a:ext cx="118872" cy="118872"/>
          </a:xfrm>
          <a:prstGeom prst="ellipse">
            <a:avLst/>
          </a:prstGeom>
          <a:solidFill>
            <a:srgbClr val="00B99B"/>
          </a:solidFill>
          <a:ln w="12700">
            <a:solidFill>
              <a:srgbClr val="00B99B"/>
            </a:solidFill>
            <a:prstDash val="solid"/>
          </a:ln>
        </p:spPr>
        <p:txBody>
          <a:bodyPr/>
          <a:lstStyle/>
          <a:p>
            <a:endParaRPr lang="ko-KR" altLang="en-US"/>
          </a:p>
        </p:txBody>
      </p:sp>
      <p:sp>
        <p:nvSpPr>
          <p:cNvPr id="19" name="Text 17"/>
          <p:cNvSpPr txBox="1"/>
          <p:nvPr/>
        </p:nvSpPr>
        <p:spPr>
          <a:xfrm>
            <a:off x="6903720" y="3502152"/>
            <a:ext cx="4480560" cy="274320"/>
          </a:xfrm>
          <a:prstGeom prst="rect">
            <a:avLst/>
          </a:prstGeom>
          <a:noFill/>
          <a:ln/>
        </p:spPr>
        <p:txBody>
          <a:bodyPr wrap="square" lIns="0" tIns="0" rIns="0" bIns="0" rtlCol="0" anchor="ctr"/>
          <a:lstStyle/>
          <a:p>
            <a:pPr marL="0" indent="0">
              <a:buNone/>
            </a:pPr>
            <a:r>
              <a:rPr lang="en-US" sz="1250" dirty="0">
                <a:solidFill>
                  <a:srgbClr val="EAF7F5"/>
                </a:solidFill>
                <a:latin typeface="Malgun Gothic" pitchFamily="34" charset="0"/>
                <a:ea typeface="Malgun Gothic" pitchFamily="34" charset="-122"/>
                <a:cs typeface="Malgun Gothic" pitchFamily="34" charset="-120"/>
              </a:rPr>
              <a:t>사용자별 움직임 범위·근육 반응을 반영</a:t>
            </a:r>
            <a:endParaRPr lang="en-US" sz="1250" dirty="0"/>
          </a:p>
        </p:txBody>
      </p:sp>
      <p:sp>
        <p:nvSpPr>
          <p:cNvPr id="20" name="Text 18"/>
          <p:cNvSpPr txBox="1"/>
          <p:nvPr/>
        </p:nvSpPr>
        <p:spPr>
          <a:xfrm>
            <a:off x="685800" y="4370832"/>
            <a:ext cx="2743200" cy="310896"/>
          </a:xfrm>
          <a:prstGeom prst="rect">
            <a:avLst/>
          </a:prstGeom>
          <a:noFill/>
          <a:ln/>
        </p:spPr>
        <p:txBody>
          <a:bodyPr wrap="square" lIns="0" tIns="0" rIns="0" bIns="0" rtlCol="0" anchor="ctr"/>
          <a:lstStyle/>
          <a:p>
            <a:pPr marL="0" indent="0">
              <a:buNone/>
            </a:pPr>
            <a:r>
              <a:rPr lang="en-US" sz="1500" b="1" dirty="0">
                <a:solidFill>
                  <a:srgbClr val="0F2126"/>
                </a:solidFill>
                <a:latin typeface="Malgun Gothic" pitchFamily="34" charset="0"/>
                <a:ea typeface="Malgun Gothic" pitchFamily="34" charset="-122"/>
                <a:cs typeface="Malgun Gothic" pitchFamily="34" charset="-120"/>
              </a:rPr>
              <a:t>안전장치</a:t>
            </a:r>
            <a:endParaRPr lang="en-US" sz="1500" dirty="0"/>
          </a:p>
        </p:txBody>
      </p:sp>
      <p:sp>
        <p:nvSpPr>
          <p:cNvPr id="21" name="Shape 19"/>
          <p:cNvSpPr/>
          <p:nvPr/>
        </p:nvSpPr>
        <p:spPr>
          <a:xfrm>
            <a:off x="685800" y="4800600"/>
            <a:ext cx="3383280" cy="1463040"/>
          </a:xfrm>
          <a:prstGeom prst="roundRect">
            <a:avLst>
              <a:gd name="adj" fmla="val 8125"/>
            </a:avLst>
          </a:prstGeom>
          <a:solidFill>
            <a:srgbClr val="062A33"/>
          </a:solidFill>
          <a:ln w="12700">
            <a:solidFill>
              <a:srgbClr val="062A33"/>
            </a:solidFill>
            <a:prstDash val="solid"/>
          </a:ln>
        </p:spPr>
        <p:txBody>
          <a:bodyPr/>
          <a:lstStyle/>
          <a:p>
            <a:endParaRPr lang="ko-KR" altLang="en-US"/>
          </a:p>
        </p:txBody>
      </p:sp>
      <p:sp>
        <p:nvSpPr>
          <p:cNvPr id="22" name="Shape 20"/>
          <p:cNvSpPr/>
          <p:nvPr/>
        </p:nvSpPr>
        <p:spPr>
          <a:xfrm>
            <a:off x="3291840" y="5074920"/>
            <a:ext cx="548640" cy="548640"/>
          </a:xfrm>
          <a:prstGeom prst="ellipse">
            <a:avLst/>
          </a:prstGeom>
          <a:solidFill>
            <a:srgbClr val="0C4450"/>
          </a:solidFill>
          <a:ln w="12700">
            <a:solidFill>
              <a:srgbClr val="0C4450"/>
            </a:solidFill>
            <a:prstDash val="solid"/>
          </a:ln>
        </p:spPr>
        <p:txBody>
          <a:bodyPr/>
          <a:lstStyle/>
          <a:p>
            <a:endParaRPr lang="ko-KR" altLang="en-US"/>
          </a:p>
        </p:txBody>
      </p:sp>
      <p:pic>
        <p:nvPicPr>
          <p:cNvPr id="23" name="Image 0" descr="preencoded.png"/>
          <p:cNvPicPr>
            <a:picLocks noChangeAspect="1"/>
          </p:cNvPicPr>
          <p:nvPr/>
        </p:nvPicPr>
        <p:blipFill>
          <a:blip r:embed="rId3"/>
          <a:stretch>
            <a:fillRect/>
          </a:stretch>
        </p:blipFill>
        <p:spPr>
          <a:xfrm>
            <a:off x="3450946" y="5234026"/>
            <a:ext cx="230429" cy="230429"/>
          </a:xfrm>
          <a:prstGeom prst="rect">
            <a:avLst/>
          </a:prstGeom>
        </p:spPr>
      </p:pic>
      <p:sp>
        <p:nvSpPr>
          <p:cNvPr id="24" name="Text 21"/>
          <p:cNvSpPr txBox="1"/>
          <p:nvPr/>
        </p:nvSpPr>
        <p:spPr>
          <a:xfrm>
            <a:off x="978408" y="5010912"/>
            <a:ext cx="2286000" cy="658368"/>
          </a:xfrm>
          <a:prstGeom prst="rect">
            <a:avLst/>
          </a:prstGeom>
          <a:noFill/>
          <a:ln/>
        </p:spPr>
        <p:txBody>
          <a:bodyPr wrap="square" lIns="0" tIns="0" rIns="0" bIns="0" rtlCol="0" anchor="ctr"/>
          <a:lstStyle/>
          <a:p>
            <a:pPr marL="0" indent="0">
              <a:buNone/>
            </a:pPr>
            <a:r>
              <a:rPr lang="en-US" sz="4000" b="1" dirty="0">
                <a:solidFill>
                  <a:srgbClr val="FFB703"/>
                </a:solidFill>
                <a:latin typeface="Malgun Gothic" pitchFamily="34" charset="0"/>
                <a:ea typeface="Malgun Gothic" pitchFamily="34" charset="-122"/>
                <a:cs typeface="Malgun Gothic" pitchFamily="34" charset="-120"/>
              </a:rPr>
              <a:t>90</a:t>
            </a:r>
            <a:endParaRPr lang="en-US" sz="4000" dirty="0"/>
          </a:p>
        </p:txBody>
      </p:sp>
      <p:sp>
        <p:nvSpPr>
          <p:cNvPr id="25" name="Text 22"/>
          <p:cNvSpPr txBox="1"/>
          <p:nvPr/>
        </p:nvSpPr>
        <p:spPr>
          <a:xfrm>
            <a:off x="978408" y="5742432"/>
            <a:ext cx="2834640" cy="274320"/>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최대 제어값 상한</a:t>
            </a:r>
            <a:endParaRPr lang="en-US" sz="1200" dirty="0"/>
          </a:p>
        </p:txBody>
      </p:sp>
      <p:sp>
        <p:nvSpPr>
          <p:cNvPr id="26" name="Shape 23"/>
          <p:cNvSpPr/>
          <p:nvPr/>
        </p:nvSpPr>
        <p:spPr>
          <a:xfrm>
            <a:off x="4389120" y="4800600"/>
            <a:ext cx="3383280" cy="1463040"/>
          </a:xfrm>
          <a:prstGeom prst="roundRect">
            <a:avLst>
              <a:gd name="adj" fmla="val 8125"/>
            </a:avLst>
          </a:prstGeom>
          <a:solidFill>
            <a:srgbClr val="062A33"/>
          </a:solidFill>
          <a:ln w="12700">
            <a:solidFill>
              <a:srgbClr val="062A33"/>
            </a:solidFill>
            <a:prstDash val="solid"/>
          </a:ln>
        </p:spPr>
        <p:txBody>
          <a:bodyPr/>
          <a:lstStyle/>
          <a:p>
            <a:endParaRPr lang="ko-KR" altLang="en-US"/>
          </a:p>
        </p:txBody>
      </p:sp>
      <p:sp>
        <p:nvSpPr>
          <p:cNvPr id="27" name="Shape 24"/>
          <p:cNvSpPr/>
          <p:nvPr/>
        </p:nvSpPr>
        <p:spPr>
          <a:xfrm>
            <a:off x="6995160" y="5074920"/>
            <a:ext cx="548640" cy="548640"/>
          </a:xfrm>
          <a:prstGeom prst="ellipse">
            <a:avLst/>
          </a:prstGeom>
          <a:solidFill>
            <a:srgbClr val="0C4450"/>
          </a:solidFill>
          <a:ln w="12700">
            <a:solidFill>
              <a:srgbClr val="0C4450"/>
            </a:solidFill>
            <a:prstDash val="solid"/>
          </a:ln>
        </p:spPr>
        <p:txBody>
          <a:bodyPr/>
          <a:lstStyle/>
          <a:p>
            <a:endParaRPr lang="ko-KR" altLang="en-US"/>
          </a:p>
        </p:txBody>
      </p:sp>
      <p:pic>
        <p:nvPicPr>
          <p:cNvPr id="28" name="Image 1" descr="preencoded.png"/>
          <p:cNvPicPr>
            <a:picLocks noChangeAspect="1"/>
          </p:cNvPicPr>
          <p:nvPr/>
        </p:nvPicPr>
        <p:blipFill>
          <a:blip r:embed="rId4"/>
          <a:stretch>
            <a:fillRect/>
          </a:stretch>
        </p:blipFill>
        <p:spPr>
          <a:xfrm>
            <a:off x="7154266" y="5234026"/>
            <a:ext cx="230429" cy="230429"/>
          </a:xfrm>
          <a:prstGeom prst="rect">
            <a:avLst/>
          </a:prstGeom>
        </p:spPr>
      </p:pic>
      <p:sp>
        <p:nvSpPr>
          <p:cNvPr id="29" name="Text 25"/>
          <p:cNvSpPr txBox="1"/>
          <p:nvPr/>
        </p:nvSpPr>
        <p:spPr>
          <a:xfrm>
            <a:off x="4681728" y="5010912"/>
            <a:ext cx="2286000" cy="658368"/>
          </a:xfrm>
          <a:prstGeom prst="rect">
            <a:avLst/>
          </a:prstGeom>
          <a:noFill/>
          <a:ln/>
        </p:spPr>
        <p:txBody>
          <a:bodyPr wrap="square" lIns="0" tIns="0" rIns="0" bIns="0" rtlCol="0" anchor="ctr"/>
          <a:lstStyle/>
          <a:p>
            <a:pPr marL="0" indent="0">
              <a:buNone/>
            </a:pPr>
            <a:r>
              <a:rPr lang="en-US" sz="4000" b="1" dirty="0">
                <a:solidFill>
                  <a:srgbClr val="FFB703"/>
                </a:solidFill>
                <a:latin typeface="Malgun Gothic" pitchFamily="34" charset="0"/>
                <a:ea typeface="Malgun Gothic" pitchFamily="34" charset="-122"/>
                <a:cs typeface="Malgun Gothic" pitchFamily="34" charset="-120"/>
              </a:rPr>
              <a:t>55</a:t>
            </a:r>
            <a:r>
              <a:rPr lang="en-US" sz="1900" b="1" dirty="0">
                <a:solidFill>
                  <a:srgbClr val="FFB703"/>
                </a:solidFill>
                <a:latin typeface="Malgun Gothic" pitchFamily="34" charset="0"/>
                <a:ea typeface="Malgun Gothic" pitchFamily="34" charset="-122"/>
                <a:cs typeface="Malgun Gothic" pitchFamily="34" charset="-120"/>
              </a:rPr>
              <a:t>초</a:t>
            </a:r>
            <a:endParaRPr lang="en-US" sz="4000" dirty="0"/>
          </a:p>
        </p:txBody>
      </p:sp>
      <p:sp>
        <p:nvSpPr>
          <p:cNvPr id="30" name="Text 26"/>
          <p:cNvSpPr txBox="1"/>
          <p:nvPr/>
        </p:nvSpPr>
        <p:spPr>
          <a:xfrm>
            <a:off x="4681728" y="5742432"/>
            <a:ext cx="2834640" cy="274320"/>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최대 자극 시간 제한</a:t>
            </a:r>
            <a:endParaRPr lang="en-US" sz="1200" dirty="0"/>
          </a:p>
        </p:txBody>
      </p:sp>
      <p:sp>
        <p:nvSpPr>
          <p:cNvPr id="31" name="Shape 27"/>
          <p:cNvSpPr/>
          <p:nvPr/>
        </p:nvSpPr>
        <p:spPr>
          <a:xfrm>
            <a:off x="8092440" y="4800600"/>
            <a:ext cx="3383280" cy="1463040"/>
          </a:xfrm>
          <a:prstGeom prst="roundRect">
            <a:avLst>
              <a:gd name="adj" fmla="val 8125"/>
            </a:avLst>
          </a:prstGeom>
          <a:solidFill>
            <a:srgbClr val="062A33"/>
          </a:solidFill>
          <a:ln w="12700">
            <a:solidFill>
              <a:srgbClr val="062A33"/>
            </a:solidFill>
            <a:prstDash val="solid"/>
          </a:ln>
        </p:spPr>
        <p:txBody>
          <a:bodyPr/>
          <a:lstStyle/>
          <a:p>
            <a:endParaRPr lang="ko-KR" altLang="en-US"/>
          </a:p>
        </p:txBody>
      </p:sp>
      <p:sp>
        <p:nvSpPr>
          <p:cNvPr id="32" name="Shape 28"/>
          <p:cNvSpPr/>
          <p:nvPr/>
        </p:nvSpPr>
        <p:spPr>
          <a:xfrm>
            <a:off x="10698480" y="5074920"/>
            <a:ext cx="548640" cy="548640"/>
          </a:xfrm>
          <a:prstGeom prst="ellipse">
            <a:avLst/>
          </a:prstGeom>
          <a:solidFill>
            <a:srgbClr val="0C4450"/>
          </a:solidFill>
          <a:ln w="12700">
            <a:solidFill>
              <a:srgbClr val="0C4450"/>
            </a:solidFill>
            <a:prstDash val="solid"/>
          </a:ln>
        </p:spPr>
        <p:txBody>
          <a:bodyPr/>
          <a:lstStyle/>
          <a:p>
            <a:endParaRPr lang="ko-KR" altLang="en-US"/>
          </a:p>
        </p:txBody>
      </p:sp>
      <p:pic>
        <p:nvPicPr>
          <p:cNvPr id="33" name="Image 2" descr="preencoded.png"/>
          <p:cNvPicPr>
            <a:picLocks noChangeAspect="1"/>
          </p:cNvPicPr>
          <p:nvPr/>
        </p:nvPicPr>
        <p:blipFill>
          <a:blip r:embed="rId5"/>
          <a:stretch>
            <a:fillRect/>
          </a:stretch>
        </p:blipFill>
        <p:spPr>
          <a:xfrm>
            <a:off x="10857586" y="5234026"/>
            <a:ext cx="230429" cy="230429"/>
          </a:xfrm>
          <a:prstGeom prst="rect">
            <a:avLst/>
          </a:prstGeom>
        </p:spPr>
      </p:pic>
      <p:sp>
        <p:nvSpPr>
          <p:cNvPr id="34" name="Text 29"/>
          <p:cNvSpPr txBox="1"/>
          <p:nvPr/>
        </p:nvSpPr>
        <p:spPr>
          <a:xfrm>
            <a:off x="8385048" y="5010912"/>
            <a:ext cx="2286000" cy="658368"/>
          </a:xfrm>
          <a:prstGeom prst="rect">
            <a:avLst/>
          </a:prstGeom>
          <a:noFill/>
          <a:ln/>
        </p:spPr>
        <p:txBody>
          <a:bodyPr wrap="square" lIns="0" tIns="0" rIns="0" bIns="0" rtlCol="0" anchor="ctr"/>
          <a:lstStyle/>
          <a:p>
            <a:pPr marL="0" indent="0">
              <a:buNone/>
            </a:pPr>
            <a:r>
              <a:rPr lang="en-US" sz="2700" b="1" dirty="0">
                <a:solidFill>
                  <a:srgbClr val="FFB703"/>
                </a:solidFill>
                <a:latin typeface="Malgun Gothic" pitchFamily="34" charset="0"/>
                <a:ea typeface="Malgun Gothic" pitchFamily="34" charset="-122"/>
                <a:cs typeface="Malgun Gothic" pitchFamily="34" charset="-120"/>
              </a:rPr>
              <a:t>즉시 차단</a:t>
            </a:r>
            <a:endParaRPr lang="en-US" sz="2700" dirty="0"/>
          </a:p>
        </p:txBody>
      </p:sp>
      <p:sp>
        <p:nvSpPr>
          <p:cNvPr id="35" name="Text 30"/>
          <p:cNvSpPr txBox="1"/>
          <p:nvPr/>
        </p:nvSpPr>
        <p:spPr>
          <a:xfrm>
            <a:off x="8385048" y="5742432"/>
            <a:ext cx="2834640" cy="274320"/>
          </a:xfrm>
          <a:prstGeom prst="rect">
            <a:avLst/>
          </a:prstGeom>
          <a:noFill/>
          <a:ln/>
        </p:spPr>
        <p:txBody>
          <a:bodyPr wrap="square" lIns="0" tIns="0" rIns="0" bIns="0" rtlCol="0" anchor="ctr"/>
          <a:lstStyle/>
          <a:p>
            <a:pPr marL="0" indent="0">
              <a:buNone/>
            </a:pPr>
            <a:r>
              <a:rPr lang="en-US" sz="1200" dirty="0">
                <a:solidFill>
                  <a:srgbClr val="BFE0E4"/>
                </a:solidFill>
                <a:latin typeface="Malgun Gothic" pitchFamily="34" charset="0"/>
                <a:ea typeface="Malgun Gothic" pitchFamily="34" charset="-122"/>
                <a:cs typeface="Malgun Gothic" pitchFamily="34" charset="-120"/>
              </a:rPr>
              <a:t>이상 반응 시 비상정지</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2A33"/>
        </a:solidFill>
        <a:effectLst/>
      </p:bgPr>
    </p:bg>
    <p:spTree>
      <p:nvGrpSpPr>
        <p:cNvPr id="1" name=""/>
        <p:cNvGrpSpPr/>
        <p:nvPr/>
      </p:nvGrpSpPr>
      <p:grpSpPr>
        <a:xfrm>
          <a:off x="0" y="0"/>
          <a:ext cx="0" cy="0"/>
          <a:chOff x="0" y="0"/>
          <a:chExt cx="0" cy="0"/>
        </a:xfrm>
      </p:grpSpPr>
      <p:sp>
        <p:nvSpPr>
          <p:cNvPr id="2" name="Shape 0"/>
          <p:cNvSpPr/>
          <p:nvPr/>
        </p:nvSpPr>
        <p:spPr>
          <a:xfrm>
            <a:off x="-1645920" y="4023360"/>
            <a:ext cx="4937760" cy="4937760"/>
          </a:xfrm>
          <a:prstGeom prst="ellipse">
            <a:avLst/>
          </a:prstGeom>
          <a:solidFill>
            <a:srgbClr val="028090">
              <a:alpha val="15000"/>
            </a:srgbClr>
          </a:solidFill>
          <a:ln w="12700">
            <a:solidFill>
              <a:srgbClr val="028090">
                <a:alpha val="0"/>
              </a:srgbClr>
            </a:solidFill>
            <a:prstDash val="solid"/>
          </a:ln>
        </p:spPr>
        <p:txBody>
          <a:bodyPr/>
          <a:lstStyle/>
          <a:p>
            <a:endParaRPr lang="ko-KR" altLang="en-US"/>
          </a:p>
        </p:txBody>
      </p:sp>
      <p:sp>
        <p:nvSpPr>
          <p:cNvPr id="3" name="Shape 1"/>
          <p:cNvSpPr/>
          <p:nvPr/>
        </p:nvSpPr>
        <p:spPr>
          <a:xfrm>
            <a:off x="777240" y="1417320"/>
            <a:ext cx="1371600" cy="1371600"/>
          </a:xfrm>
          <a:prstGeom prst="ellipse">
            <a:avLst/>
          </a:prstGeom>
          <a:solidFill>
            <a:srgbClr val="FF6B35"/>
          </a:solidFill>
          <a:ln w="12700">
            <a:solidFill>
              <a:srgbClr val="FF6B35"/>
            </a:solidFill>
            <a:prstDash val="solid"/>
          </a:ln>
        </p:spPr>
        <p:txBody>
          <a:bodyPr/>
          <a:lstStyle/>
          <a:p>
            <a:endParaRPr lang="ko-KR" altLang="en-US"/>
          </a:p>
        </p:txBody>
      </p:sp>
      <p:pic>
        <p:nvPicPr>
          <p:cNvPr id="4" name="Image 0" descr="preencoded.png"/>
          <p:cNvPicPr>
            <a:picLocks noChangeAspect="1"/>
          </p:cNvPicPr>
          <p:nvPr/>
        </p:nvPicPr>
        <p:blipFill>
          <a:blip r:embed="rId3"/>
          <a:stretch>
            <a:fillRect/>
          </a:stretch>
        </p:blipFill>
        <p:spPr>
          <a:xfrm>
            <a:off x="1175004" y="1815084"/>
            <a:ext cx="576072" cy="576072"/>
          </a:xfrm>
          <a:prstGeom prst="rect">
            <a:avLst/>
          </a:prstGeom>
        </p:spPr>
      </p:pic>
      <p:sp>
        <p:nvSpPr>
          <p:cNvPr id="5" name="Text 2"/>
          <p:cNvSpPr txBox="1"/>
          <p:nvPr/>
        </p:nvSpPr>
        <p:spPr>
          <a:xfrm>
            <a:off x="2514600" y="1572768"/>
            <a:ext cx="5486400" cy="621792"/>
          </a:xfrm>
          <a:prstGeom prst="rect">
            <a:avLst/>
          </a:prstGeom>
          <a:noFill/>
          <a:ln/>
        </p:spPr>
        <p:txBody>
          <a:bodyPr wrap="square" lIns="0" tIns="0" rIns="0" bIns="0" rtlCol="0" anchor="ctr"/>
          <a:lstStyle/>
          <a:p>
            <a:pPr marL="0" indent="0">
              <a:buNone/>
            </a:pPr>
            <a:r>
              <a:rPr lang="en-US" sz="3800" b="1" dirty="0">
                <a:solidFill>
                  <a:srgbClr val="FFFFFF"/>
                </a:solidFill>
                <a:latin typeface="Malgun Gothic" pitchFamily="34" charset="0"/>
                <a:ea typeface="Malgun Gothic" pitchFamily="34" charset="-122"/>
                <a:cs typeface="Malgun Gothic" pitchFamily="34" charset="-120"/>
              </a:rPr>
              <a:t>시연 영상</a:t>
            </a:r>
            <a:endParaRPr lang="en-US" sz="3800" dirty="0"/>
          </a:p>
        </p:txBody>
      </p:sp>
      <p:sp>
        <p:nvSpPr>
          <p:cNvPr id="6" name="Text 3"/>
          <p:cNvSpPr txBox="1"/>
          <p:nvPr/>
        </p:nvSpPr>
        <p:spPr>
          <a:xfrm>
            <a:off x="2542032" y="2267712"/>
            <a:ext cx="6400800" cy="329184"/>
          </a:xfrm>
          <a:prstGeom prst="rect">
            <a:avLst/>
          </a:prstGeom>
          <a:noFill/>
          <a:ln/>
        </p:spPr>
        <p:txBody>
          <a:bodyPr wrap="square" lIns="0" tIns="0" rIns="0" bIns="0" rtlCol="0" anchor="ctr"/>
          <a:lstStyle/>
          <a:p>
            <a:pPr marL="0" indent="0">
              <a:buNone/>
            </a:pPr>
            <a:r>
              <a:rPr lang="en-US" sz="1500" dirty="0">
                <a:solidFill>
                  <a:srgbClr val="BFE0E4"/>
                </a:solidFill>
                <a:latin typeface="Malgun Gothic" pitchFamily="34" charset="0"/>
                <a:ea typeface="Malgun Gothic" pitchFamily="34" charset="-122"/>
                <a:cs typeface="Malgun Gothic" pitchFamily="34" charset="-120"/>
              </a:rPr>
              <a:t>동작 인식부터 EMS 자극 세기 자동 제어까지</a:t>
            </a:r>
            <a:endParaRPr lang="en-US" sz="1500" dirty="0"/>
          </a:p>
        </p:txBody>
      </p:sp>
      <p:sp>
        <p:nvSpPr>
          <p:cNvPr id="7" name="Shape 4"/>
          <p:cNvSpPr/>
          <p:nvPr/>
        </p:nvSpPr>
        <p:spPr>
          <a:xfrm>
            <a:off x="777240" y="3429000"/>
            <a:ext cx="3566160" cy="2148840"/>
          </a:xfrm>
          <a:prstGeom prst="roundRect">
            <a:avLst>
              <a:gd name="adj" fmla="val 5532"/>
            </a:avLst>
          </a:prstGeom>
          <a:solidFill>
            <a:srgbClr val="0C4450"/>
          </a:solidFill>
          <a:ln w="12700">
            <a:solidFill>
              <a:srgbClr val="0C4450"/>
            </a:solidFill>
            <a:prstDash val="solid"/>
          </a:ln>
        </p:spPr>
        <p:txBody>
          <a:bodyPr/>
          <a:lstStyle/>
          <a:p>
            <a:endParaRPr lang="ko-KR" altLang="en-US"/>
          </a:p>
        </p:txBody>
      </p:sp>
      <p:sp>
        <p:nvSpPr>
          <p:cNvPr id="8" name="Text 5"/>
          <p:cNvSpPr txBox="1"/>
          <p:nvPr/>
        </p:nvSpPr>
        <p:spPr>
          <a:xfrm>
            <a:off x="1097280" y="3657600"/>
            <a:ext cx="640080" cy="411480"/>
          </a:xfrm>
          <a:prstGeom prst="rect">
            <a:avLst/>
          </a:prstGeom>
          <a:noFill/>
          <a:ln/>
        </p:spPr>
        <p:txBody>
          <a:bodyPr wrap="square" lIns="0" tIns="0" rIns="0" bIns="0" rtlCol="0" anchor="ctr"/>
          <a:lstStyle/>
          <a:p>
            <a:pPr marL="0" indent="0">
              <a:buNone/>
            </a:pPr>
            <a:r>
              <a:rPr lang="en-US" sz="2200" b="1" dirty="0">
                <a:solidFill>
                  <a:srgbClr val="00B99B"/>
                </a:solidFill>
                <a:latin typeface="Malgun Gothic" pitchFamily="34" charset="0"/>
                <a:ea typeface="Malgun Gothic" pitchFamily="34" charset="-122"/>
                <a:cs typeface="Malgun Gothic" pitchFamily="34" charset="-120"/>
              </a:rPr>
              <a:t>①</a:t>
            </a:r>
            <a:endParaRPr lang="en-US" sz="2200" dirty="0"/>
          </a:p>
        </p:txBody>
      </p:sp>
      <p:sp>
        <p:nvSpPr>
          <p:cNvPr id="9" name="Text 6"/>
          <p:cNvSpPr txBox="1"/>
          <p:nvPr/>
        </p:nvSpPr>
        <p:spPr>
          <a:xfrm>
            <a:off x="1097280" y="4206240"/>
            <a:ext cx="3017520" cy="310896"/>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손 굽힘 인식</a:t>
            </a:r>
            <a:endParaRPr lang="en-US" sz="1600" dirty="0"/>
          </a:p>
        </p:txBody>
      </p:sp>
      <p:sp>
        <p:nvSpPr>
          <p:cNvPr id="10" name="Text 7"/>
          <p:cNvSpPr txBox="1"/>
          <p:nvPr/>
        </p:nvSpPr>
        <p:spPr>
          <a:xfrm>
            <a:off x="1097280" y="4572000"/>
            <a:ext cx="3017520" cy="731520"/>
          </a:xfrm>
          <a:prstGeom prst="rect">
            <a:avLst/>
          </a:prstGeom>
          <a:noFill/>
          <a:ln/>
        </p:spPr>
        <p:txBody>
          <a:bodyPr wrap="square" lIns="0" tIns="0" rIns="0" bIns="0" rtlCol="0" anchor="ctr"/>
          <a:lstStyle/>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카메라가 정상 손의</a:t>
            </a:r>
            <a:endParaRPr lang="en-US" sz="1150" dirty="0"/>
          </a:p>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굽힘 정도를 목표값으로 인식</a:t>
            </a:r>
            <a:endParaRPr lang="en-US" sz="1150" dirty="0"/>
          </a:p>
        </p:txBody>
      </p:sp>
      <p:sp>
        <p:nvSpPr>
          <p:cNvPr id="11" name="Shape 8"/>
          <p:cNvSpPr/>
          <p:nvPr/>
        </p:nvSpPr>
        <p:spPr>
          <a:xfrm>
            <a:off x="4617720" y="3429000"/>
            <a:ext cx="3566160" cy="2148840"/>
          </a:xfrm>
          <a:prstGeom prst="roundRect">
            <a:avLst>
              <a:gd name="adj" fmla="val 5532"/>
            </a:avLst>
          </a:prstGeom>
          <a:solidFill>
            <a:srgbClr val="0C4450"/>
          </a:solidFill>
          <a:ln w="12700">
            <a:solidFill>
              <a:srgbClr val="0C4450"/>
            </a:solidFill>
            <a:prstDash val="solid"/>
          </a:ln>
        </p:spPr>
        <p:txBody>
          <a:bodyPr/>
          <a:lstStyle/>
          <a:p>
            <a:endParaRPr lang="ko-KR" altLang="en-US"/>
          </a:p>
        </p:txBody>
      </p:sp>
      <p:sp>
        <p:nvSpPr>
          <p:cNvPr id="12" name="Text 9"/>
          <p:cNvSpPr txBox="1"/>
          <p:nvPr/>
        </p:nvSpPr>
        <p:spPr>
          <a:xfrm>
            <a:off x="4937760" y="3657600"/>
            <a:ext cx="640080" cy="411480"/>
          </a:xfrm>
          <a:prstGeom prst="rect">
            <a:avLst/>
          </a:prstGeom>
          <a:noFill/>
          <a:ln/>
        </p:spPr>
        <p:txBody>
          <a:bodyPr wrap="square" lIns="0" tIns="0" rIns="0" bIns="0" rtlCol="0" anchor="ctr"/>
          <a:lstStyle/>
          <a:p>
            <a:pPr marL="0" indent="0">
              <a:buNone/>
            </a:pPr>
            <a:r>
              <a:rPr lang="en-US" sz="2200" b="1" dirty="0">
                <a:solidFill>
                  <a:srgbClr val="00B99B"/>
                </a:solidFill>
                <a:latin typeface="Malgun Gothic" pitchFamily="34" charset="0"/>
                <a:ea typeface="Malgun Gothic" pitchFamily="34" charset="-122"/>
                <a:cs typeface="Malgun Gothic" pitchFamily="34" charset="-120"/>
              </a:rPr>
              <a:t>②</a:t>
            </a:r>
            <a:endParaRPr lang="en-US" sz="2200" dirty="0"/>
          </a:p>
        </p:txBody>
      </p:sp>
      <p:sp>
        <p:nvSpPr>
          <p:cNvPr id="13" name="Text 10"/>
          <p:cNvSpPr txBox="1"/>
          <p:nvPr/>
        </p:nvSpPr>
        <p:spPr>
          <a:xfrm>
            <a:off x="4937760" y="4206240"/>
            <a:ext cx="3017520" cy="310896"/>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자극 세기 자동 보정</a:t>
            </a:r>
            <a:endParaRPr lang="en-US" sz="1600" dirty="0"/>
          </a:p>
        </p:txBody>
      </p:sp>
      <p:sp>
        <p:nvSpPr>
          <p:cNvPr id="14" name="Text 11"/>
          <p:cNvSpPr txBox="1"/>
          <p:nvPr/>
        </p:nvSpPr>
        <p:spPr>
          <a:xfrm>
            <a:off x="4937760" y="4572000"/>
            <a:ext cx="3017520" cy="731520"/>
          </a:xfrm>
          <a:prstGeom prst="rect">
            <a:avLst/>
          </a:prstGeom>
          <a:noFill/>
          <a:ln/>
        </p:spPr>
        <p:txBody>
          <a:bodyPr wrap="square" lIns="0" tIns="0" rIns="0" bIns="0" rtlCol="0" anchor="ctr"/>
          <a:lstStyle/>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오차에 따라 세기를 올리고 내려</a:t>
            </a:r>
            <a:endParaRPr lang="en-US" sz="1150" dirty="0"/>
          </a:p>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±5% 이내에서 정지</a:t>
            </a:r>
            <a:endParaRPr lang="en-US" sz="1150" dirty="0"/>
          </a:p>
        </p:txBody>
      </p:sp>
      <p:sp>
        <p:nvSpPr>
          <p:cNvPr id="15" name="Shape 12"/>
          <p:cNvSpPr/>
          <p:nvPr/>
        </p:nvSpPr>
        <p:spPr>
          <a:xfrm>
            <a:off x="8458200" y="3429000"/>
            <a:ext cx="3566160" cy="2148840"/>
          </a:xfrm>
          <a:prstGeom prst="roundRect">
            <a:avLst>
              <a:gd name="adj" fmla="val 5532"/>
            </a:avLst>
          </a:prstGeom>
          <a:solidFill>
            <a:srgbClr val="0C4450"/>
          </a:solidFill>
          <a:ln w="12700">
            <a:solidFill>
              <a:srgbClr val="0C4450"/>
            </a:solidFill>
            <a:prstDash val="solid"/>
          </a:ln>
        </p:spPr>
        <p:txBody>
          <a:bodyPr/>
          <a:lstStyle/>
          <a:p>
            <a:endParaRPr lang="ko-KR" altLang="en-US"/>
          </a:p>
        </p:txBody>
      </p:sp>
      <p:sp>
        <p:nvSpPr>
          <p:cNvPr id="16" name="Text 13"/>
          <p:cNvSpPr txBox="1"/>
          <p:nvPr/>
        </p:nvSpPr>
        <p:spPr>
          <a:xfrm>
            <a:off x="8778240" y="3657600"/>
            <a:ext cx="640080" cy="411480"/>
          </a:xfrm>
          <a:prstGeom prst="rect">
            <a:avLst/>
          </a:prstGeom>
          <a:noFill/>
          <a:ln/>
        </p:spPr>
        <p:txBody>
          <a:bodyPr wrap="square" lIns="0" tIns="0" rIns="0" bIns="0" rtlCol="0" anchor="ctr"/>
          <a:lstStyle/>
          <a:p>
            <a:pPr marL="0" indent="0">
              <a:buNone/>
            </a:pPr>
            <a:r>
              <a:rPr lang="en-US" sz="2200" b="1" dirty="0">
                <a:solidFill>
                  <a:srgbClr val="00B99B"/>
                </a:solidFill>
                <a:latin typeface="Malgun Gothic" pitchFamily="34" charset="0"/>
                <a:ea typeface="Malgun Gothic" pitchFamily="34" charset="-122"/>
                <a:cs typeface="Malgun Gothic" pitchFamily="34" charset="-120"/>
              </a:rPr>
              <a:t>③</a:t>
            </a:r>
            <a:endParaRPr lang="en-US" sz="2200" dirty="0"/>
          </a:p>
        </p:txBody>
      </p:sp>
      <p:sp>
        <p:nvSpPr>
          <p:cNvPr id="17" name="Text 14"/>
          <p:cNvSpPr txBox="1"/>
          <p:nvPr/>
        </p:nvSpPr>
        <p:spPr>
          <a:xfrm>
            <a:off x="8778240" y="4206240"/>
            <a:ext cx="3017520" cy="310896"/>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음성 명령 실행</a:t>
            </a:r>
            <a:endParaRPr lang="en-US" sz="1600" dirty="0"/>
          </a:p>
        </p:txBody>
      </p:sp>
      <p:sp>
        <p:nvSpPr>
          <p:cNvPr id="18" name="Text 15"/>
          <p:cNvSpPr txBox="1"/>
          <p:nvPr/>
        </p:nvSpPr>
        <p:spPr>
          <a:xfrm>
            <a:off x="8778240" y="4572000"/>
            <a:ext cx="3017520" cy="731520"/>
          </a:xfrm>
          <a:prstGeom prst="rect">
            <a:avLst/>
          </a:prstGeom>
          <a:noFill/>
          <a:ln/>
        </p:spPr>
        <p:txBody>
          <a:bodyPr wrap="square" lIns="0" tIns="0" rIns="0" bIns="0" rtlCol="0" anchor="ctr"/>
          <a:lstStyle/>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동작 이름을 말해</a:t>
            </a:r>
            <a:endParaRPr lang="en-US" sz="1150" dirty="0"/>
          </a:p>
          <a:p>
            <a:pPr marL="0" indent="0">
              <a:lnSpc>
                <a:spcPts val="1700"/>
              </a:lnSpc>
              <a:buNone/>
            </a:pPr>
            <a:r>
              <a:rPr lang="en-US" sz="1150" dirty="0">
                <a:solidFill>
                  <a:srgbClr val="BFE0E4"/>
                </a:solidFill>
                <a:latin typeface="Malgun Gothic" pitchFamily="34" charset="0"/>
                <a:ea typeface="Malgun Gothic" pitchFamily="34" charset="-122"/>
                <a:cs typeface="Malgun Gothic" pitchFamily="34" charset="-120"/>
              </a:rPr>
              <a:t>저장된 설정으로 바로 동작</a:t>
            </a:r>
            <a:endParaRPr lang="en-US" sz="1150" dirty="0"/>
          </a:p>
        </p:txBody>
      </p:sp>
      <p:sp>
        <p:nvSpPr>
          <p:cNvPr id="19" name="Text 16"/>
          <p:cNvSpPr txBox="1"/>
          <p:nvPr/>
        </p:nvSpPr>
        <p:spPr>
          <a:xfrm>
            <a:off x="777240" y="5943600"/>
            <a:ext cx="4572000" cy="365760"/>
          </a:xfrm>
          <a:prstGeom prst="rect">
            <a:avLst/>
          </a:prstGeom>
          <a:noFill/>
          <a:ln/>
        </p:spPr>
        <p:txBody>
          <a:bodyPr wrap="square" lIns="0" tIns="0" rIns="0" bIns="0" rtlCol="0" anchor="ctr"/>
          <a:lstStyle/>
          <a:p>
            <a:pPr marL="0" indent="0">
              <a:buNone/>
            </a:pPr>
            <a:r>
              <a:rPr lang="en-US" sz="1400" b="1" dirty="0">
                <a:solidFill>
                  <a:srgbClr val="BFE0E4"/>
                </a:solidFill>
                <a:latin typeface="Malgun Gothic" pitchFamily="34" charset="0"/>
                <a:ea typeface="Malgun Gothic" pitchFamily="34" charset="-122"/>
                <a:cs typeface="Malgun Gothic" pitchFamily="34" charset="-120"/>
              </a:rPr>
              <a:t>감사합니다</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A5989EF-6454-A5A3-46C3-88A477ABFD2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02914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4B934CB1-8B54-B510-26B1-FA10DE82188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19773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447</TotalTime>
  <Words>911</Words>
  <Application>Microsoft Office PowerPoint</Application>
  <PresentationFormat>와이드스크린</PresentationFormat>
  <Paragraphs>148</Paragraphs>
  <Slides>10</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EMS 기반 뇌졸중 편마비 재활 보조 시스템</dc:title>
  <dc:subject>PptxGenJS Presentation</dc:subject>
  <dc:creator>Rehab EMS Team</dc:creator>
  <cp:lastModifiedBy>홍서준</cp:lastModifiedBy>
  <cp:revision>3</cp:revision>
  <dcterms:created xsi:type="dcterms:W3CDTF">2026-08-27T16:06:30Z</dcterms:created>
  <dcterms:modified xsi:type="dcterms:W3CDTF">2026-08-28T01:05:26Z</dcterms:modified>
</cp:coreProperties>
</file>